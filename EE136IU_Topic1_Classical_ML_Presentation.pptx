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284C7"/>
                </a:solidFill>
                <a:latin typeface="Manrope"/>
              </a:defRPr>
            </a:pPr>
            <a:r>
              <a:t>EE136 • MACHINE LEARNING FOR WIRELESS COMMUNICATIONS</a:t>
            </a:r>
          </a:p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Manrope"/>
              </a:defRPr>
            </a:pPr>
            <a:r>
              <a:t>Topic 1: Comprehensive Model Benchmark</a:t>
            </a:r>
          </a:p>
          <a:p>
            <a:pPr>
              <a:spcAft>
                <a:spcPts val="1800"/>
              </a:spcAft>
              <a:defRPr sz="2000" b="1">
                <a:solidFill>
                  <a:srgbClr val="10B981"/>
                </a:solidFill>
                <a:latin typeface="Manrope"/>
              </a:defRPr>
            </a:pPr>
            <a:r>
              <a:t>Tier 1: Classical Machine Learning (Random Forest vs. RBF-SVM)</a:t>
            </a:r>
          </a:p>
          <a:p>
            <a:pPr>
              <a:spcAft>
                <a:spcPts val="2800"/>
              </a:spcAft>
              <a:defRPr sz="1400">
                <a:solidFill>
                  <a:srgbClr val="94A3B8"/>
                </a:solidFill>
                <a:latin typeface="Inter"/>
              </a:defRPr>
            </a:pPr>
            <a:r>
              <a:t>Automatic Modulation Classification (AMC) on 18 Domain Features Across 8 Modulation Schemes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• DATASET: </a:t>
            </a:r>
            <a:r>
              <a:rPr b="0" sz="1100">
                <a:solidFill>
                  <a:srgbClr val="CBD5E1"/>
                </a:solidFill>
              </a:rPr>
              <a:t>96,000 Bursts (Train 70% / Val 15% / Test 15%)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• INPUT: </a:t>
            </a:r>
            <a:r>
              <a:rPr b="0" sz="1100">
                <a:solidFill>
                  <a:srgbClr val="CBD5E1"/>
                </a:solidFill>
              </a:rPr>
              <a:t>18 Invariant Physical Features (HOC + Welch PSD + PAPR)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• MODELS: </a:t>
            </a:r>
            <a:r>
              <a:rPr b="0" sz="1100">
                <a:solidFill>
                  <a:srgbClr val="CBD5E1"/>
                </a:solidFill>
              </a:rPr>
              <a:t>Random Forest (200 Trees) &amp; Support Vector Machine (RBF, C=10)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• CHANNELS: </a:t>
            </a:r>
            <a:r>
              <a:rPr b="0" sz="1100">
                <a:solidFill>
                  <a:srgbClr val="CBD5E1"/>
                </a:solidFill>
              </a:rPr>
              <a:t>AWGN &amp; Rayleigh 3-Tap Fading (-10 dB to +18 dB)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TOPIC 01 • DOMAIN FEATURE EXTRACTION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Feature Distillation: Raw Baseband to 18 Invariant Domain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 • Classical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2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375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0632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t>Raw I/Q Dimension Reduction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Input Burst: </a:t>
            </a:r>
            <a:r>
              <a:rPr sz="1100">
                <a:solidFill>
                  <a:srgbClr val="0F172A"/>
                </a:solidFill>
              </a:rPr>
              <a:t>128 complex baseband samples r[n] = I[n] + jQ[n] (256 raw real values).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Vulnerability: </a:t>
            </a:r>
            <a:r>
              <a:rPr sz="1100">
                <a:solidFill>
                  <a:srgbClr val="0F172A"/>
                </a:solidFill>
              </a:rPr>
              <a:t>Raw I/Q suffers high variance under random channel phase rotation θ and AWGN.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14x Compression: </a:t>
            </a:r>
            <a:r>
              <a:rPr sz="1100">
                <a:solidFill>
                  <a:srgbClr val="0F172A"/>
                </a:solidFill>
              </a:rPr>
              <a:t>Condenses 256 dimensions down to 18 robust domain statistical invariants.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Zero Data Leakage: </a:t>
            </a:r>
            <a:r>
              <a:rPr sz="1100">
                <a:solidFill>
                  <a:srgbClr val="0F172A"/>
                </a:solidFill>
              </a:rPr>
              <a:t>StandardScaler parameters (mean μ, std σ) computed solely on 67,200 Train bursts. Never exposed to Test 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977639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3703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18 Physical Feature Taxonomy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Higher-Order Cumulants (9): </a:t>
            </a:r>
            <a:r>
              <a:rPr sz="1100">
                <a:solidFill>
                  <a:srgbClr val="0F172A"/>
                </a:solidFill>
              </a:rPr>
              <a:t>C20, C21, C40, C41, C42, C60, C61, C62, C63. Insensitive to Gaussian noise; isolates constellation rotational symmetries.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Phase Invariance (C40): </a:t>
            </a:r>
            <a:r>
              <a:rPr sz="1100">
                <a:solidFill>
                  <a:srgbClr val="0F172A"/>
                </a:solidFill>
              </a:rPr>
              <a:t>BPSK (|C40|=2.0) and QPSK (|C40|=1.0) decouple cleanly. M&gt;=8 PSK converge to |C40|=0.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Envelope &amp; PAPR (2): </a:t>
            </a:r>
            <a:r>
              <a:rPr sz="1100">
                <a:solidFill>
                  <a:srgbClr val="0F172A"/>
                </a:solidFill>
              </a:rPr>
              <a:t>sigma_aa (std dev of envelope) and PAPR (Peak-to-Average Power Ratio). Separates constant-envelope PSK from multi-amplitude QAM.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Welch PSD &amp; Phase Stats (7): </a:t>
            </a:r>
            <a:r>
              <a:rPr sz="1100">
                <a:solidFill>
                  <a:srgbClr val="0F172A"/>
                </a:solidFill>
              </a:rPr>
              <a:t>gamma_max, Kurt_psd, Skew_psd, H_psd, H_phase, sigma_ap, sigma_dp measure spectral concentration and angular spread.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234440"/>
            <a:ext cx="304495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371600"/>
            <a:ext cx="277063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Manrope"/>
              </a:defRPr>
            </a:pPr>
            <a:r>
              <a:t>Feature Invariance Power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Energy Normalization: </a:t>
            </a:r>
            <a:r>
              <a:rPr sz="1100">
                <a:solidFill>
                  <a:srgbClr val="0F172A"/>
                </a:solidFill>
              </a:rPr>
              <a:t>All bursts RMS-scaled: r_norm[n] = r[n] / sqrt(1/L sum |r[k]|^2). Prevents trivial power-level cheating.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Phase Invariance: </a:t>
            </a:r>
            <a:r>
              <a:rPr sz="1100">
                <a:solidFill>
                  <a:srgbClr val="0F172A"/>
                </a:solidFill>
              </a:rPr>
              <a:t>Cumulant magnitudes |C_pq| eliminate unknown phase offset e^(jθ) introduced by Rayleigh multipath.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284C7"/>
                </a:solidFill>
              </a:rPr>
              <a:t>Theoretical Ceiling: </a:t>
            </a:r>
            <a:r>
              <a:rPr sz="1100">
                <a:solidFill>
                  <a:srgbClr val="0F172A"/>
                </a:solidFill>
              </a:rPr>
              <a:t>Cumulants up to 6th order cannot resolve 8PSK/16PSK/32PSK internal phase angles. Sets mathematical ceiling ~48.25%.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TOPIC 01 • ALGORITHM ARCHITECTURES &amp;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Classical ML Specification: Random Forest (Bagging) vs. SVM (RBF)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 • Classical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3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1663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892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Manrope"/>
              </a:defRPr>
            </a:pPr>
            <a:r>
              <a:t>Tier 1A: Random Forest Classifier (Ensemble Bagging)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Ensemble Structure: </a:t>
            </a:r>
            <a:r>
              <a:rPr sz="1100">
                <a:solidFill>
                  <a:srgbClr val="0F172A"/>
                </a:solidFill>
              </a:rPr>
              <a:t>200 decision trees (n_estimators=200), bootstrap sampling on 67,200 training instances.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Splitting Criterion: </a:t>
            </a:r>
            <a:r>
              <a:rPr sz="1100">
                <a:solidFill>
                  <a:srgbClr val="0F172A"/>
                </a:solidFill>
              </a:rPr>
              <a:t>Gini Impurity with unconstrained depth (max_depth=None). Subsamples sqrt(18) ≈ 4 features at each split node.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Parameter Explosion: </a:t>
            </a:r>
            <a:r>
              <a:rPr sz="1100">
                <a:solidFill>
                  <a:srgbClr val="0F172A"/>
                </a:solidFill>
              </a:rPr>
              <a:t>Deep trees grow without pruning -&gt; 140,572,728 total decision parameters across 200 trees!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Model Checkpoint Size: </a:t>
            </a:r>
            <a:r>
              <a:rPr sz="1100">
                <a:solidFill>
                  <a:srgbClr val="0F172A"/>
                </a:solidFill>
              </a:rPr>
              <a:t>999.7 MB (.pkl file size). Severe RAM footprint when loaded into memory.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Training Complexity: </a:t>
            </a:r>
            <a:r>
              <a:rPr sz="1100">
                <a:solidFill>
                  <a:srgbClr val="0F172A"/>
                </a:solidFill>
              </a:rPr>
              <a:t>Parallelized multi-core training (n_jobs=-1) completes in 121.03 s (~2.0 min on CPU).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Inference Speed: </a:t>
            </a:r>
            <a:r>
              <a:rPr sz="1100">
                <a:solidFill>
                  <a:srgbClr val="0F172A"/>
                </a:solidFill>
              </a:rPr>
              <a:t>Fast execution: ~280 µs single-sample, 177 µs batched. Well within 5G frame budget (1.0 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234440"/>
            <a:ext cx="51663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371600"/>
            <a:ext cx="4892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nrope"/>
              </a:defRPr>
            </a:pPr>
            <a:r>
              <a:t>Tier 1B: Support Vector Machine (RBF Kernel)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Mathematical Formulation: </a:t>
            </a:r>
            <a:r>
              <a:rPr sz="1100">
                <a:solidFill>
                  <a:srgbClr val="0F172A"/>
                </a:solidFill>
              </a:rPr>
              <a:t>Dual QP optimization finding maximum-margin separating hyperplanes in infinite-dimensional RKHS space.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Hyperparameters: </a:t>
            </a:r>
            <a:r>
              <a:rPr sz="1100">
                <a:solidFill>
                  <a:srgbClr val="0F172A"/>
                </a:solidFill>
              </a:rPr>
              <a:t>Radial Basis Function (RBF) kernel: K(x, x') = exp(-gamma * ||x-x'||^2), Regularization C=10, gamma='scale' = 1/(18 * Var(X)).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Support Vector Count: </a:t>
            </a:r>
            <a:r>
              <a:rPr sz="1100">
                <a:solidFill>
                  <a:srgbClr val="0F172A"/>
                </a:solidFill>
              </a:rPr>
              <a:t>1,035,568 support vector coefficients (57,531 support vectors across 8 classes * 18 features).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Model Checkpoint Size: </a:t>
            </a:r>
            <a:r>
              <a:rPr sz="1100">
                <a:solidFill>
                  <a:srgbClr val="0F172A"/>
                </a:solidFill>
              </a:rPr>
              <a:t>14.96 MB (.pkl file size). 66x more compact than Random Forest on disk.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Training Bottleneck: </a:t>
            </a:r>
            <a:r>
              <a:rPr sz="1100">
                <a:solidFill>
                  <a:srgbClr val="0F172A"/>
                </a:solidFill>
              </a:rPr>
              <a:t>Quadratic O(N^2) optimization on 67,200 bursts requires 1,788.23 s (~29.8 min CPU) — 15x slower to train!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Inference Latency Trap: </a:t>
            </a:r>
            <a:r>
              <a:rPr sz="1100">
                <a:solidFill>
                  <a:srgbClr val="0F172A"/>
                </a:solidFill>
              </a:rPr>
              <a:t>Must compute kernel dot products against 57k vectors per sample -&gt; ~9,700 µs (9.7 ms). Fails real-time 5G deadline (1.0 ms)!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TOPIC 01 • EMPIRICAL PROFILING &amp; SYSTEM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Classical ML System Profiling: Compute, Memory &amp; Latency Dilemma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 • Classical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4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5912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371600"/>
          <a:ext cx="1035100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93392"/>
                <a:gridCol w="1993392"/>
                <a:gridCol w="1993392"/>
                <a:gridCol w="1993392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Metric / Specification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Random Forest (RF)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SVM (RBF Kernel)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Ratio (RF vs. SVM)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Engineering Impact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Training Duration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121.03 s (~2.0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1,788.23 s (~29.8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SVM is 14.8x slower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RF enables rapid retraining on SDR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Trainable Parameters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140,572,728 tree nodes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1,035,568 SV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RF has 135x more params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RF suffers severe parameter explosion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Checkpoint File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999.7 MB (0.98 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14.96 MB (0.015 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RF is 66x larger on 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  <a:latin typeface="Inter"/>
                        </a:defRPr>
                      </a:pPr>
                      <a:r>
                        <a:t>SVM fits on flash; RF requires large DRAM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Single-Burst Latency (B=1)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~280 µs (0.28 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~9,700 µs (9.70 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Inter"/>
                        </a:defRPr>
                      </a:pPr>
                      <a:r>
                        <a:t>RF is 35x faster in infer.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RF satisfies 5G 1ms budget; SVM FAILS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886200"/>
            <a:ext cx="516636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D97706"/>
                </a:solidFill>
                <a:latin typeface="Manrope"/>
              </a:defRPr>
            </a:pPr>
            <a:r>
              <a:t>Why We Drop SVM &amp; Keep Random Forest in Production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Latency Violation: </a:t>
            </a:r>
            <a:r>
              <a:rPr sz="1050">
                <a:solidFill>
                  <a:srgbClr val="0F172A"/>
                </a:solidFill>
              </a:rPr>
              <a:t>SVM latency (~9.7 ms) exceeds the 3GPP 5G NR TTI frame budget (1.0 ms) by 9.7x! Unusable for real-time SDR baseband.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Support Vector Drag: </a:t>
            </a:r>
            <a:r>
              <a:rPr sz="1050">
                <a:solidFill>
                  <a:srgbClr val="0F172A"/>
                </a:solidFill>
              </a:rPr>
              <a:t>Evaluating 57,531 dual coefficients per burst creates severe computation bottlenecks without accuracy gain (SVM 33.8% vs RF 33.8%).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3886200"/>
            <a:ext cx="516636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397763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10B981"/>
                </a:solidFill>
                <a:latin typeface="Manrope"/>
              </a:defRPr>
            </a:pPr>
            <a:r>
              <a:t>Random Forest: High Memory, But Fast Decision Speed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Instant Logic Trees: </a:t>
            </a:r>
            <a:r>
              <a:rPr sz="1050">
                <a:solidFill>
                  <a:srgbClr val="0F172A"/>
                </a:solidFill>
              </a:rPr>
              <a:t>RF executes sequential threshold comparisons: if C40 &lt;= -1.45 goto Left else goto Right. No matrix inversions!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284C7"/>
                </a:solidFill>
              </a:rPr>
              <a:t>Live Dashboard Integration: </a:t>
            </a:r>
            <a:r>
              <a:rPr sz="1050">
                <a:solidFill>
                  <a:srgbClr val="0F172A"/>
                </a:solidFill>
              </a:rPr>
              <a:t>At ~280 µs latency, RF responds instantaneously on user clicks in the live demo deliverable.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TOPIC 01 • STANDARDIZED BENCHMARK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Classical ML Performance: Accuracy &amp; Macro-F1 Across 15 Calibrated SNRs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 • Classical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5 of 6</a:t>
            </a:r>
          </a:p>
        </p:txBody>
      </p:sp>
      <p:pic>
        <p:nvPicPr>
          <p:cNvPr id="7" name="Picture 6" descr="ml_metric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68503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371600"/>
            <a:ext cx="341071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  <a:latin typeface="Manrope"/>
              </a:defRPr>
            </a:pPr>
            <a:r>
              <a:t>SNR Regime Breakdown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Low SNR (-10 to -2 dB): </a:t>
            </a:r>
            <a:r>
              <a:rPr sz="1100">
                <a:solidFill>
                  <a:srgbClr val="0F172A"/>
                </a:solidFill>
              </a:rPr>
              <a:t>Acc: 14.9% -&gt; 26.5%. Dominated by AWGN noise floor. High noise variances heavily perturb high-order cumulants.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Steep Transition (0 to +6 dB): </a:t>
            </a:r>
            <a:r>
              <a:rPr sz="1100">
                <a:solidFill>
                  <a:srgbClr val="0F172A"/>
                </a:solidFill>
              </a:rPr>
              <a:t>Acc jumps from 27.6% to 40.4%. BPSK and QPSK emerge with high precision. Signal power overcomes noise floor.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High-SNR Ceiling (+8 to +18 dB): </a:t>
            </a:r>
            <a:r>
              <a:rPr sz="1100">
                <a:solidFill>
                  <a:srgbClr val="0F172A"/>
                </a:solidFill>
              </a:rPr>
              <a:t>Acc flattens near 48-51% (RF: 50.10%, SVM: 51.35%). Intra-group ambiguity between higher PSK and QAM sets a mathematical wall.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284C7"/>
                </a:solidFill>
              </a:rPr>
              <a:t>Macro-F1 Alignment: </a:t>
            </a:r>
            <a:r>
              <a:rPr sz="1100">
                <a:solidFill>
                  <a:srgbClr val="0F172A"/>
                </a:solidFill>
              </a:rPr>
              <a:t>Macro-F1 tracks Accuracy within 0.5% across all 15 SNRs, confirming zero class bias on balanced test splits.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anrope"/>
              </a:defRPr>
            </a:pPr>
            <a:r>
              <a:t>TOPIC 01 • ERROR DIAGNOSTICS &amp;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nrope"/>
              </a:defRPr>
            </a:pPr>
            <a:r>
              <a:t>Classical ML Error Diagnostics: Confusion Matrices &amp; Feature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Inter"/>
              </a:defRPr>
            </a:pPr>
            <a:r>
              <a:t>EE136: Machine Learning for Wireless Communications | Topic 1 • Classical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1856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nrope"/>
              </a:defRPr>
            </a:pPr>
            <a:r>
              <a:t>Slide 6 of 6</a:t>
            </a:r>
          </a:p>
        </p:txBody>
      </p:sp>
      <p:pic>
        <p:nvPicPr>
          <p:cNvPr id="7" name="Picture 6" descr="ml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066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234440"/>
            <a:ext cx="3136392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371600"/>
            <a:ext cx="286207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Manrope"/>
              </a:defRPr>
            </a:pPr>
            <a:r>
              <a:t>Key Diagnostic Findings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284C7"/>
                </a:solidFill>
              </a:rPr>
              <a:t>Low SNR (-4 dB | ~22%): </a:t>
            </a:r>
            <a:r>
              <a:rPr sz="1000">
                <a:solidFill>
                  <a:srgbClr val="0F172A"/>
                </a:solidFill>
              </a:rPr>
              <a:t>Severe off-diagonal noise scattering. Cumulant estimations fail; models guess almost uniformly across modulation families.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284C7"/>
                </a:solidFill>
              </a:rPr>
              <a:t>Mid SNR (+4 dB | ~35%): </a:t>
            </a:r>
            <a:r>
              <a:rPr sz="1000">
                <a:solidFill>
                  <a:srgbClr val="0F172A"/>
                </a:solidFill>
              </a:rPr>
              <a:t>BPSK is recognized almost perfectly (~98%) via C40=-2.0. QPSK separates cleanly (~57%). Higher-order PSK/QAM remain heavily blurred.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284C7"/>
                </a:solidFill>
              </a:rPr>
              <a:t>High SNR (+14 dB | ~47%): </a:t>
            </a:r>
            <a:r>
              <a:rPr sz="1000">
                <a:solidFill>
                  <a:srgbClr val="0F172A"/>
                </a:solidFill>
              </a:rPr>
              <a:t>Mathematical ceiling ceiling: 8PSK, 16PSK, and 32PSK cluster together at |C40|=0. Similarly, 16QAM, 64QAM, and 256QAM confuse each other.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284C7"/>
                </a:solidFill>
              </a:rPr>
              <a:t>Top Gini Features: </a:t>
            </a:r>
            <a:r>
              <a:rPr sz="1000">
                <a:solidFill>
                  <a:srgbClr val="0F172A"/>
                </a:solidFill>
              </a:rPr>
              <a:t>1. C40 (BPSK/QPSK divider)
2. C42 (energy variance)
3. PAPR (PSK vs QAM)
4. sigma_aa (envelope std)
5. H_phase (phase entropy)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