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319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25880"/>
            <a:ext cx="9418320" cy="2795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rPr dirty="0"/>
              <a:t>EE136 • MACHINE LEARNING FOR WIRELESS COMMUNICATIONS</a:t>
            </a:r>
          </a:p>
          <a:p>
            <a:pPr>
              <a:spcAft>
                <a:spcPts val="1600"/>
              </a:spcAft>
              <a:defRPr sz="3000" b="1">
                <a:solidFill>
                  <a:srgbClr val="0F172A"/>
                </a:solidFill>
                <a:latin typeface="Arial"/>
              </a:defRPr>
            </a:pPr>
            <a:r>
              <a:rPr dirty="0"/>
              <a:t>Topic 1: Comprehensive Model Benchmark</a:t>
            </a:r>
            <a:br>
              <a:rPr dirty="0"/>
            </a:br>
            <a:r>
              <a:rPr dirty="0"/>
              <a:t>Tier 2: 3-Layer Multilayer Perceptron (MLP)</a:t>
            </a:r>
          </a:p>
          <a:p>
            <a:pPr>
              <a:spcAft>
                <a:spcPts val="22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rPr dirty="0"/>
              <a:t>Automatic Modulation Classification Across 8 Digital Modulation Schemes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dirty="0"/>
              <a:t>Presenters: Hai Nguyen (EEEEIU22093) &amp; Van Thao Minh (EEEEIU22097)</a:t>
            </a:r>
            <a:br>
              <a:rPr dirty="0"/>
            </a:br>
            <a:r>
              <a:rPr dirty="0"/>
              <a:t>Instructor: Dr. Huynh Vo Trung Dung | Date: October 26, 2026</a:t>
            </a:r>
            <a:br>
              <a:rPr dirty="0"/>
            </a:br>
            <a:r>
              <a:rPr dirty="0"/>
              <a:t>Scope: Baseband Physics, 18 Domain Features, MLP Optimization &amp; Latency Profiling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PHYSICAL CHANNEL &amp; BASEBAND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Baseband Physics: AMC Problem &amp; Constellation Clouds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0370" y="1411520"/>
            <a:ext cx="3054955" cy="424168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962" y="1576112"/>
            <a:ext cx="2725771" cy="394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Physical Layer Problem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Task:</a:t>
            </a:r>
            <a:r>
              <a:rPr sz="1350" b="0">
                <a:solidFill>
                  <a:srgbClr val="0F172A"/>
                </a:solidFill>
                <a:latin typeface="Calibri"/>
              </a:rPr>
              <a:t> Blindly classify modulation from 128 I/Q samples.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8 Classes:</a:t>
            </a:r>
            <a:r>
              <a:rPr sz="1350" b="0">
                <a:solidFill>
                  <a:srgbClr val="0F172A"/>
                </a:solidFill>
                <a:latin typeface="Calibri"/>
              </a:rPr>
              <a:t> 5 PSK (BPSK..32PSK) + 3 QAM (16/64/256QAM).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Channel:</a:t>
            </a:r>
            <a:r>
              <a:rPr sz="1350" b="0">
                <a:solidFill>
                  <a:srgbClr val="0F172A"/>
                </a:solidFill>
                <a:latin typeface="Calibri"/>
              </a:rPr>
              <a:t> AWGN + Rayleigh 3-Tap (-10 to +18 dB).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Challenge:</a:t>
            </a:r>
            <a:r>
              <a:rPr sz="1350" b="0">
                <a:solidFill>
                  <a:srgbClr val="0F172A"/>
                </a:solidFill>
                <a:latin typeface="Calibri"/>
              </a:rPr>
              <a:t> Severe noise blur at low SNR (-4 dB).</a:t>
            </a:r>
          </a:p>
        </p:txBody>
      </p:sp>
      <p:pic>
        <p:nvPicPr>
          <p:cNvPr id="8" name="Picture 7" descr="constellation_comparison_low_vs_high_sn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972" y="1420670"/>
            <a:ext cx="8022234" cy="41411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DOMAIN FEATURE ENGINEERING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Feature Distillation: Raw I/Q to 18 Invariant Domain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3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29000" cy="49377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279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3154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D4ED8"/>
                </a:solidFill>
                <a:latin typeface="Arial"/>
              </a:defRPr>
            </a:pPr>
            <a:r>
              <a:t>Raw Baseband I/Q Burst</a:t>
            </a:r>
          </a:p>
          <a:p>
            <a:pPr algn="ctr">
              <a:defRPr sz="1400" b="1">
                <a:solidFill>
                  <a:srgbClr val="334155"/>
                </a:solidFill>
                <a:latin typeface="Calibri"/>
              </a:defRPr>
            </a:pPr>
            <a:r>
              <a:t>128 Complex Samples [2, 128]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31720"/>
            <a:ext cx="29718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450592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In-Phase Component I[n]</a:t>
            </a:r>
          </a:p>
          <a:p>
            <a:pPr algn="ctr"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128 Real Baseband Samples</a:t>
            </a:r>
            <a:br/>
            <a:r>
              <a:t>────────────────────</a:t>
            </a:r>
          </a:p>
          <a:p>
            <a:pPr algn="ctr">
              <a:spcAft>
                <a:spcPts val="2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Quadrature Component Q[n]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128 Imaginary Baseband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297680"/>
            <a:ext cx="2971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440740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Why NOT Raw I/Q into MLP?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256 raw dimensions (high variance)</a:t>
            </a:r>
          </a:p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Vulnerable to phase rotation &amp; AWGN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3017520"/>
            <a:ext cx="1088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Arial"/>
              </a:defRPr>
            </a:pPr>
            <a:r>
              <a:t>14x</a:t>
            </a:r>
            <a:br/>
            <a:r>
              <a:t>Compress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43400" y="3675887"/>
            <a:ext cx="777240" cy="347472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03520" y="1234440"/>
            <a:ext cx="6153912" cy="148132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04688" y="1362456"/>
            <a:ext cx="576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065F46"/>
                </a:solidFill>
                <a:latin typeface="Arial"/>
              </a:defRPr>
            </a:pPr>
            <a:r>
              <a:t>1. Envelope &amp; Amplitude (2 Features)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rPr sz="1400" b="1">
                <a:solidFill>
                  <a:srgbClr val="0F172A"/>
                </a:solidFill>
                <a:latin typeface="Calibri"/>
              </a:rPr>
              <a:t>sigma_aa:</a:t>
            </a:r>
            <a:r>
              <a:rPr sz="1400" b="0">
                <a:solidFill>
                  <a:srgbClr val="0F172A"/>
                </a:solidFill>
                <a:latin typeface="Calibri"/>
              </a:rPr>
              <a:t> Normalized amplitude std dev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rPr sz="1400" b="1">
                <a:solidFill>
                  <a:srgbClr val="0F172A"/>
                </a:solidFill>
                <a:latin typeface="Calibri"/>
              </a:rPr>
              <a:t>PAPR:</a:t>
            </a:r>
            <a:r>
              <a:rPr sz="1400" b="0">
                <a:solidFill>
                  <a:srgbClr val="0F172A"/>
                </a:solidFill>
                <a:latin typeface="Calibri"/>
              </a:rPr>
              <a:t> Separates constant-envelope PSK from QAM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953512"/>
            <a:ext cx="6153912" cy="1481328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04688" y="3081528"/>
            <a:ext cx="576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92400E"/>
                </a:solidFill>
                <a:latin typeface="Arial"/>
              </a:defRPr>
            </a:pPr>
            <a:r>
              <a:t>2. Higher-Order Cumulants — HOC (9 Features)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rPr sz="1400" b="1">
                <a:solidFill>
                  <a:srgbClr val="0F172A"/>
                </a:solidFill>
                <a:latin typeface="Calibri"/>
              </a:rPr>
              <a:t>2nd &amp; 4th Order (C20..C42):</a:t>
            </a:r>
            <a:r>
              <a:rPr sz="1400" b="0">
                <a:solidFill>
                  <a:srgbClr val="0F172A"/>
                </a:solidFill>
                <a:latin typeface="Calibri"/>
              </a:rPr>
              <a:t> BPSK (|C40|=2), QPSK (|C40|=1)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rPr sz="1400" b="1">
                <a:solidFill>
                  <a:srgbClr val="0F172A"/>
                </a:solidFill>
                <a:latin typeface="Calibri"/>
              </a:rPr>
              <a:t>6th Order (C60..C63):</a:t>
            </a:r>
            <a:r>
              <a:rPr sz="1400" b="0">
                <a:solidFill>
                  <a:srgbClr val="0F172A"/>
                </a:solidFill>
                <a:latin typeface="Calibri"/>
              </a:rPr>
              <a:t> Power-normalized by C21^(order/2)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672584"/>
            <a:ext cx="6153912" cy="148132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04688" y="4800600"/>
            <a:ext cx="576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991B1B"/>
                </a:solidFill>
                <a:latin typeface="Arial"/>
              </a:defRPr>
            </a:pPr>
            <a:r>
              <a:t>3. Welch PSD &amp; Phase Stats (7 Features)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Spectral PSD (gamma_max, Kurt, Skew, H_psd)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Phase Spread (H_phase, sigma_ap, sigma_dp)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FEATURE SPACE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Geometric Separability: Cumulants &amp; Spectral Signatures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4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18842" cy="422467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399032"/>
            <a:ext cx="2989658" cy="393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Cumulant Space (C40 vs. C42)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Low-Order PSK:</a:t>
            </a:r>
            <a:r>
              <a:rPr sz="1350" b="0">
                <a:solidFill>
                  <a:srgbClr val="0F172A"/>
                </a:solidFill>
                <a:latin typeface="Calibri"/>
              </a:rPr>
              <a:t> BPSK (|C40|=2) &amp; QPSK (|C40|=1) isolate cleanly.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High-Order PSK (8/16/32PSK):</a:t>
            </a:r>
            <a:r>
              <a:rPr sz="1350" b="0">
                <a:solidFill>
                  <a:srgbClr val="0F172A"/>
                </a:solidFill>
                <a:latin typeface="Calibri"/>
              </a:rPr>
              <a:t> Cluster at |C40| = 0.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QAM Family (16/64/256QAM):</a:t>
            </a:r>
            <a:r>
              <a:rPr sz="1350" b="0">
                <a:solidFill>
                  <a:srgbClr val="0F172A"/>
                </a:solidFill>
                <a:latin typeface="Calibri"/>
              </a:rPr>
              <a:t> Multi-ring square clusters.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t>Enables fast nonlinear partitioning by MLP.</a:t>
            </a:r>
          </a:p>
        </p:txBody>
      </p:sp>
      <p:pic>
        <p:nvPicPr>
          <p:cNvPr id="8" name="Picture 7" descr="feature_space_8_classes_ver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736" y="1572618"/>
            <a:ext cx="7788639" cy="354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NEURAL NETWORK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Model Architecture: 3-Layer Fully-Connected MLP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5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295144" cy="37033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279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80744"/>
            <a:ext cx="21122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D4ED8"/>
                </a:solidFill>
                <a:latin typeface="Arial"/>
              </a:defRPr>
            </a:pPr>
            <a:r>
              <a:t>Input Layer</a:t>
            </a:r>
          </a:p>
          <a:p>
            <a:pPr algn="ctr">
              <a:defRPr sz="1400" b="1">
                <a:solidFill>
                  <a:srgbClr val="334155"/>
                </a:solidFill>
                <a:latin typeface="Calibri"/>
              </a:defRPr>
            </a:pPr>
            <a:r>
              <a:t>18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58568"/>
            <a:ext cx="1929384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551176"/>
            <a:ext cx="1783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18 Scaled Values</a:t>
            </a:r>
          </a:p>
          <a:p>
            <a:pPr algn="ctr">
              <a:spcAft>
                <a:spcPts val="22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StandardScaler</a:t>
            </a:r>
          </a:p>
          <a:p>
            <a:pPr algn="ctr">
              <a:defRPr sz="1350">
                <a:solidFill>
                  <a:srgbClr val="334155"/>
                </a:solidFill>
                <a:latin typeface="Calibri"/>
              </a:defRPr>
            </a:pPr>
            <a:r>
              <a:t>mu = 0, sigma = 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3291840"/>
            <a:ext cx="347472" cy="29260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38728" y="1234440"/>
            <a:ext cx="2295144" cy="37033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279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1380744"/>
            <a:ext cx="21122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65F46"/>
                </a:solidFill>
                <a:latin typeface="Arial"/>
              </a:defRPr>
            </a:pPr>
            <a:r>
              <a:t>Hidden Layer 1</a:t>
            </a:r>
          </a:p>
          <a:p>
            <a:pPr algn="ctr">
              <a:defRPr sz="1400" b="1">
                <a:solidFill>
                  <a:srgbClr val="334155"/>
                </a:solidFill>
                <a:latin typeface="Calibri"/>
              </a:defRPr>
            </a:pPr>
            <a:r>
              <a:t>128 Neurons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21608" y="2258568"/>
            <a:ext cx="1929384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2551176"/>
            <a:ext cx="1783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Linear(18 -&gt; 128)</a:t>
            </a:r>
          </a:p>
          <a:p>
            <a:pPr algn="ctr">
              <a:spcAft>
                <a:spcPts val="22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BatchNorm1d</a:t>
            </a:r>
          </a:p>
          <a:p>
            <a:pPr algn="ctr">
              <a:defRPr sz="1350">
                <a:solidFill>
                  <a:srgbClr val="334155"/>
                </a:solidFill>
                <a:latin typeface="Calibri"/>
              </a:defRPr>
            </a:pPr>
            <a:r>
              <a:t>ReLU + Dropout(0.2)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16168" y="3291840"/>
            <a:ext cx="347472" cy="29260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45936" y="1234440"/>
            <a:ext cx="2295144" cy="37033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279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1380744"/>
            <a:ext cx="21122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92400E"/>
                </a:solidFill>
                <a:latin typeface="Arial"/>
              </a:defRPr>
            </a:pPr>
            <a:r>
              <a:t>Hidden Layer 2</a:t>
            </a:r>
          </a:p>
          <a:p>
            <a:pPr algn="ctr">
              <a:defRPr sz="1400" b="1">
                <a:solidFill>
                  <a:srgbClr val="334155"/>
                </a:solidFill>
                <a:latin typeface="Calibri"/>
              </a:defRPr>
            </a:pPr>
            <a:r>
              <a:t>64 Neurons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28816" y="2258568"/>
            <a:ext cx="1929384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2551176"/>
            <a:ext cx="1783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Linear(128 -&gt; 64)</a:t>
            </a:r>
          </a:p>
          <a:p>
            <a:pPr algn="ctr">
              <a:spcAft>
                <a:spcPts val="22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BatchNorm1d</a:t>
            </a:r>
          </a:p>
          <a:p>
            <a:pPr algn="ctr">
              <a:defRPr sz="1350">
                <a:solidFill>
                  <a:srgbClr val="334155"/>
                </a:solidFill>
                <a:latin typeface="Calibri"/>
              </a:defRPr>
            </a:pPr>
            <a:r>
              <a:t>ReLU + Dropout(0.2)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291840"/>
            <a:ext cx="347472" cy="29260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53144" y="1234440"/>
            <a:ext cx="2295144" cy="37033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79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44584" y="1380744"/>
            <a:ext cx="21122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991B1B"/>
                </a:solidFill>
                <a:latin typeface="Arial"/>
              </a:defRPr>
            </a:pPr>
            <a:r>
              <a:t>Output Layer</a:t>
            </a:r>
          </a:p>
          <a:p>
            <a:pPr algn="ctr">
              <a:defRPr sz="1400" b="1">
                <a:solidFill>
                  <a:srgbClr val="334155"/>
                </a:solidFill>
                <a:latin typeface="Calibri"/>
              </a:defRPr>
            </a:pPr>
            <a:r>
              <a:t>8 Classes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36024" y="2258568"/>
            <a:ext cx="1929384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09176" y="2551176"/>
            <a:ext cx="1783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Linear(64 -&gt; 8)</a:t>
            </a:r>
          </a:p>
          <a:p>
            <a:pPr algn="ctr">
              <a:spcAft>
                <a:spcPts val="22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Softmax Function</a:t>
            </a:r>
          </a:p>
          <a:p>
            <a:pPr algn="ctr">
              <a:defRPr sz="1350">
                <a:solidFill>
                  <a:srgbClr val="334155"/>
                </a:solidFill>
                <a:latin typeface="Calibri"/>
              </a:defRPr>
            </a:pPr>
            <a:r>
              <a:t>8 Class Probabilities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93792"/>
            <a:ext cx="10716768" cy="10241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321808"/>
            <a:ext cx="103510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284C7"/>
                </a:solidFill>
                <a:latin typeface="Arial"/>
              </a:defRPr>
            </a:pPr>
            <a:r>
              <a:t>11,592 Trainable Parameters   |   52.5 KB Checkpoint   |   58.75s Training Time on CPU</a:t>
            </a:r>
          </a:p>
          <a:p>
            <a:pPr algn="ctr">
              <a:defRPr sz="1400">
                <a:solidFill>
                  <a:srgbClr val="334155"/>
                </a:solidFill>
                <a:latin typeface="Calibri"/>
              </a:defRPr>
            </a:pPr>
            <a:r>
              <a:t>Cross-Entropy Loss + L2 Decay (1e-4)   |   Adam Optimizer (lr = 0.001)   |   Batched Latency: 0.71 µs/burst (~36 µs Single-Sample)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MATHEMATICAL INFERENCE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Step-by-Step Example: How the Model Predicts a 16-QAM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6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167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 i="1">
                <a:solidFill>
                  <a:srgbClr val="0284C7"/>
                </a:solidFill>
                <a:latin typeface="Calibri"/>
              </a:defRPr>
            </a:pPr>
            <a:r>
              <a:t>(Illustrative End-to-End Forward Pass: Raw Burst -&gt; Normalized Features -&gt; 3 Dense Layers -&gt; Softmax Class Decision)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295144" cy="477316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279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27048"/>
            <a:ext cx="2112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1D4ED8"/>
                </a:solidFill>
                <a:latin typeface="Arial"/>
              </a:defRPr>
            </a:pPr>
            <a:r>
              <a:t>STEP 1: Extract</a:t>
            </a:r>
          </a:p>
          <a:p>
            <a:pPr algn="ctr">
              <a:defRPr sz="1300">
                <a:solidFill>
                  <a:srgbClr val="334155"/>
                </a:solidFill>
                <a:latin typeface="Calibri"/>
              </a:defRPr>
            </a:pPr>
            <a:r>
              <a:t>18 Features from Burst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286000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340864"/>
            <a:ext cx="18562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Calibri"/>
              </a:defRPr>
            </a:pPr>
            <a:r>
              <a:t>C40 (Cumulant):   -0.68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816352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871216"/>
            <a:ext cx="18562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Calibri"/>
              </a:defRPr>
            </a:pPr>
            <a:r>
              <a:t>C42 (Cumulant):   +0.84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46704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401568"/>
            <a:ext cx="18562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Calibri"/>
              </a:defRPr>
            </a:pPr>
            <a:r>
              <a:t>Kurt_psd:   3.42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877056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931920"/>
            <a:ext cx="18562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Calibri"/>
              </a:defRPr>
            </a:pPr>
            <a:r>
              <a:t>gamma_max:   1.89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4407408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462272"/>
            <a:ext cx="18562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Calibri"/>
              </a:defRPr>
            </a:pPr>
            <a:r>
              <a:t>sigma_aa:   0.31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4937760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992624"/>
            <a:ext cx="18562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Calibri"/>
              </a:defRPr>
            </a:pPr>
            <a:r>
              <a:t>PAPR:   2.15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05272"/>
            <a:ext cx="21122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Input: Vector x in R^18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08960" y="3657600"/>
            <a:ext cx="347472" cy="29260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538728" y="1417320"/>
            <a:ext cx="2295144" cy="4773168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79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30168" y="1527048"/>
            <a:ext cx="2112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65F46"/>
                </a:solidFill>
                <a:latin typeface="Arial"/>
              </a:defRPr>
            </a:pPr>
            <a:r>
              <a:t>STEP 2: Scale</a:t>
            </a:r>
          </a:p>
          <a:p>
            <a:pPr algn="ctr">
              <a:defRPr sz="1300">
                <a:solidFill>
                  <a:srgbClr val="334155"/>
                </a:solidFill>
                <a:latin typeface="Calibri"/>
              </a:defRPr>
            </a:pPr>
            <a:r>
              <a:t>StandardScaler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21608" y="2377440"/>
            <a:ext cx="1929384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76472" y="2560320"/>
            <a:ext cx="1819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1350" b="1">
                <a:solidFill>
                  <a:srgbClr val="065F46"/>
                </a:solidFill>
                <a:latin typeface="Consolas"/>
              </a:defRPr>
            </a:pPr>
            <a:r>
              <a:t>z = (x - mu) / sigma</a:t>
            </a:r>
          </a:p>
          <a:p>
            <a:pPr algn="ctr">
              <a:defRPr sz="1350">
                <a:solidFill>
                  <a:srgbClr val="334155"/>
                </a:solidFill>
                <a:latin typeface="Calibri"/>
              </a:defRPr>
            </a:pPr>
            <a:r>
              <a:t>mu = 0,  sigma =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4114800"/>
            <a:ext cx="20025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rPr dirty="0"/>
              <a:t>Transforms</a:t>
            </a:r>
            <a:br>
              <a:rPr dirty="0"/>
            </a:br>
            <a:r>
              <a:rPr dirty="0"/>
              <a:t>Narrow Ravine</a:t>
            </a:r>
            <a:br>
              <a:rPr dirty="0"/>
            </a:br>
            <a:r>
              <a:rPr dirty="0"/>
              <a:t>into Round Bowl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5458968"/>
            <a:ext cx="20756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5F46"/>
                </a:solidFill>
                <a:latin typeface="Calibri"/>
              </a:defRPr>
            </a:pPr>
            <a:r>
              <a:t>Prevents C42 from dominating!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16168" y="3657600"/>
            <a:ext cx="347472" cy="29260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45936" y="1417320"/>
            <a:ext cx="2295144" cy="4773168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279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7376" y="1527048"/>
            <a:ext cx="2112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92400E"/>
                </a:solidFill>
                <a:latin typeface="Arial"/>
              </a:defRPr>
            </a:pPr>
            <a:r>
              <a:t>STEP 3: Forward</a:t>
            </a:r>
          </a:p>
          <a:p>
            <a:pPr algn="ctr">
              <a:defRPr sz="1300">
                <a:solidFill>
                  <a:srgbClr val="334155"/>
                </a:solidFill>
                <a:latin typeface="Calibri"/>
              </a:defRPr>
            </a:pPr>
            <a:r>
              <a:t>3 Dense Layers (W*x + b)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28816" y="2350008"/>
            <a:ext cx="19293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65392" y="2441448"/>
            <a:ext cx="18562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92400E"/>
                </a:solidFill>
                <a:latin typeface="Arial"/>
              </a:defRPr>
            </a:pPr>
            <a:r>
              <a:t>Layer 1 (18 -&gt; 128)</a:t>
            </a:r>
          </a:p>
          <a:p>
            <a:pPr algn="ctr">
              <a:defRPr sz="1200">
                <a:solidFill>
                  <a:srgbClr val="334155"/>
                </a:solidFill>
                <a:latin typeface="Calibri"/>
              </a:defRPr>
            </a:pPr>
            <a:r>
              <a:t>BatchNorm1d + ReLU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28816" y="3374136"/>
            <a:ext cx="19293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65392" y="3465576"/>
            <a:ext cx="18562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92400E"/>
                </a:solidFill>
                <a:latin typeface="Arial"/>
              </a:defRPr>
            </a:pPr>
            <a:r>
              <a:t>Layer 2 (128 -&gt; 64)</a:t>
            </a:r>
          </a:p>
          <a:p>
            <a:pPr algn="ctr">
              <a:defRPr sz="1200">
                <a:solidFill>
                  <a:srgbClr val="334155"/>
                </a:solidFill>
                <a:latin typeface="Calibri"/>
              </a:defRPr>
            </a:pPr>
            <a:r>
              <a:t>BatchNorm1d + ReLU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28816" y="4398264"/>
            <a:ext cx="1929384" cy="841248"/>
          </a:xfrm>
          <a:prstGeom prst="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5392" y="4489704"/>
            <a:ext cx="18562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92400E"/>
                </a:solidFill>
                <a:latin typeface="Arial"/>
              </a:defRPr>
            </a:pPr>
            <a:r>
              <a:t>Layer 3 (64 -&gt; 8)</a:t>
            </a:r>
          </a:p>
          <a:p>
            <a:pPr algn="ctr">
              <a:defRPr sz="1200">
                <a:solidFill>
                  <a:srgbClr val="334155"/>
                </a:solidFill>
                <a:latin typeface="Calibri"/>
              </a:defRPr>
            </a:pPr>
            <a:r>
              <a:t>Linear Logits (z1...z8)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5577840"/>
            <a:ext cx="2112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2400E"/>
                </a:solidFill>
                <a:latin typeface="Arial"/>
              </a:defRPr>
            </a:pPr>
            <a:r>
              <a:rPr dirty="0"/>
              <a:t>Batched: 0.71 µs </a:t>
            </a:r>
            <a:endParaRPr lang="en-US" dirty="0"/>
          </a:p>
          <a:p>
            <a:pPr algn="ctr">
              <a:defRPr sz="1200" b="1">
                <a:solidFill>
                  <a:srgbClr val="92400E"/>
                </a:solidFill>
                <a:latin typeface="Arial"/>
              </a:defRPr>
            </a:pPr>
            <a:r>
              <a:rPr dirty="0"/>
              <a:t> Single: ~36 µs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723376" y="3657600"/>
            <a:ext cx="347472" cy="29260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153144" y="1417320"/>
            <a:ext cx="2295144" cy="477316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279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4584" y="1527048"/>
            <a:ext cx="2112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991B1B"/>
                </a:solidFill>
                <a:latin typeface="Arial"/>
              </a:defRPr>
            </a:pPr>
            <a:r>
              <a:t>STEP 4: Decide</a:t>
            </a:r>
          </a:p>
          <a:p>
            <a:pPr algn="ctr">
              <a:defRPr sz="1300">
                <a:solidFill>
                  <a:srgbClr val="334155"/>
                </a:solidFill>
                <a:latin typeface="Calibri"/>
              </a:defRPr>
            </a:pPr>
            <a:r>
              <a:t>Softmax Probabilities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6" y="2350008"/>
            <a:ext cx="1965960" cy="2423160"/>
          </a:xfrm>
          <a:prstGeom prst="rect">
            <a:avLst/>
          </a:prstGeom>
          <a:solidFill>
            <a:srgbClr val="FFFFFF"/>
          </a:solidFill>
          <a:ln w="177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54312" y="2478024"/>
            <a:ext cx="777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16-QAM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22408" y="2532888"/>
            <a:ext cx="712317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871301" y="2478024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65F46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2" y="2916936"/>
            <a:ext cx="777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64-QAM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22408" y="2971800"/>
            <a:ext cx="156362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315346" y="2916936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34155"/>
                </a:solidFill>
                <a:latin typeface="Calibri"/>
              </a:defRPr>
            </a:pPr>
            <a:r>
              <a:t>11%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54312" y="3355848"/>
            <a:ext cx="777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QPSK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22408" y="3410712"/>
            <a:ext cx="78181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37165" y="33558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34155"/>
                </a:solidFill>
                <a:latin typeface="Calibri"/>
              </a:defRPr>
            </a:pPr>
            <a:r>
              <a:t>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54312" y="3794760"/>
            <a:ext cx="777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BPSK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22408" y="3849624"/>
            <a:ext cx="52120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211104" y="379476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34155"/>
                </a:solidFill>
                <a:latin typeface="Calibri"/>
              </a:defRPr>
            </a:pPr>
            <a:r>
              <a:t>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54312" y="4233672"/>
            <a:ext cx="777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Others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22408" y="4288536"/>
            <a:ext cx="34747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193731" y="423367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34155"/>
                </a:solidFill>
                <a:latin typeface="Calibri"/>
              </a:defRPr>
            </a:pPr>
            <a:r>
              <a:t>1%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17736" y="4937759"/>
            <a:ext cx="1965960" cy="1101745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54312" y="5032023"/>
            <a:ext cx="18928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50" b="1">
                <a:solidFill>
                  <a:srgbClr val="FFFFFF"/>
                </a:solidFill>
                <a:latin typeface="Arial"/>
              </a:defRPr>
            </a:pPr>
            <a:r>
              <a:rPr dirty="0"/>
              <a:t>ILLUSTRATIVE DECISION</a:t>
            </a:r>
          </a:p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dirty="0"/>
              <a:t>16-QAM (82% Conf)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OPTIMIZATION &amp; FEATURE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Loss Landscapes: Narrow Ravine vs. Round Bowl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7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1747" y="1252851"/>
            <a:ext cx="3547136" cy="452812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339" y="1417443"/>
            <a:ext cx="3217952" cy="423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Feature Scaling Physics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Scale Disparity:</a:t>
            </a:r>
            <a:r>
              <a:rPr sz="1350" b="0">
                <a:solidFill>
                  <a:srgbClr val="0F172A"/>
                </a:solidFill>
                <a:latin typeface="Calibri"/>
              </a:rPr>
              <a:t> Raw features span wildly different ranges.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Unscaled (Narrow Ravine):</a:t>
            </a:r>
            <a:r>
              <a:rPr sz="1350" b="0">
                <a:solidFill>
                  <a:srgbClr val="0F172A"/>
                </a:solidFill>
                <a:latin typeface="Calibri"/>
              </a:rPr>
              <a:t> Gradients bounce across steep walls.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StandardScaler (Round Bowl):</a:t>
            </a:r>
            <a:r>
              <a:rPr sz="1350" b="0">
                <a:solidFill>
                  <a:srgbClr val="0F172A"/>
                </a:solidFill>
                <a:latin typeface="Calibri"/>
              </a:rPr>
              <a:t> Zero mean, unit variance (fit on Train only) -&gt; fast convergence.</a:t>
            </a:r>
          </a:p>
        </p:txBody>
      </p:sp>
      <p:pic>
        <p:nvPicPr>
          <p:cNvPr id="8" name="Picture 7" descr="diagram_narrow_ravine_vs_round_bow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636" y="1726375"/>
            <a:ext cx="7794508" cy="33180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TRAINING VERIFICATION &amp; CHECKPOINTING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Training Convergence &amp; Cross-Entropy Loss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8 of 12</a:t>
            </a:r>
          </a:p>
        </p:txBody>
      </p:sp>
      <p:pic>
        <p:nvPicPr>
          <p:cNvPr id="6" name="Picture 5" descr="mlp_loss_history_ver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65" y="1669240"/>
            <a:ext cx="6888118" cy="35818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5224" y="1294594"/>
            <a:ext cx="3722037" cy="423476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49816" y="1459186"/>
            <a:ext cx="3392853" cy="3942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Training &amp; Checkpointing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Loss:</a:t>
            </a:r>
            <a:r>
              <a:rPr sz="1350" b="0">
                <a:solidFill>
                  <a:srgbClr val="0F172A"/>
                </a:solidFill>
                <a:latin typeface="Calibri"/>
              </a:rPr>
              <a:t> Cross-Entropy + L2 Decay (1e-4).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Optimizer:</a:t>
            </a:r>
            <a:r>
              <a:rPr sz="1350" b="0">
                <a:solidFill>
                  <a:srgbClr val="0F172A"/>
                </a:solidFill>
                <a:latin typeface="Calibri"/>
              </a:rPr>
              <a:t> Adam (lr = 0.001, batch = 128, 35 epochs).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Best Checkpoint:</a:t>
            </a:r>
            <a:r>
              <a:rPr sz="1350" b="0">
                <a:solidFill>
                  <a:srgbClr val="0F172A"/>
                </a:solidFill>
                <a:latin typeface="Calibri"/>
              </a:rPr>
              <a:t> Epoch 33 (Val Acc: 35.03%, Loss: 1.50).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t>Zero overfitting between Train &amp; Validation curves.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STANDARDIZED EXPERIMENTAL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Operating-Condition Slicing: Accuracy vs. SNR (-10 to +18 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9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023360" cy="49377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399032"/>
            <a:ext cx="3694176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SNR Regime Slicing (Week 03)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Low SNR (-10 to -2 dB):</a:t>
            </a:r>
            <a:r>
              <a:rPr sz="1350" b="0">
                <a:solidFill>
                  <a:srgbClr val="0F172A"/>
                </a:solidFill>
                <a:latin typeface="Calibri"/>
              </a:rPr>
              <a:t> 14.7% -&gt; 24.8% (noise floor).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Transition (0 to +6 dB):</a:t>
            </a:r>
            <a:r>
              <a:rPr sz="1350" b="0">
                <a:solidFill>
                  <a:srgbClr val="0F172A"/>
                </a:solidFill>
                <a:latin typeface="Calibri"/>
              </a:rPr>
              <a:t> Jumps steeply to 42.4%.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High SNR (+8 to +18 dB):</a:t>
            </a:r>
            <a:r>
              <a:rPr sz="1350" b="0">
                <a:solidFill>
                  <a:srgbClr val="0F172A"/>
                </a:solidFill>
                <a:latin typeface="Calibri"/>
              </a:rPr>
              <a:t> Plateaus at ~48.8% - 50.0%.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Ceiling Math (+14 dB):</a:t>
            </a:r>
            <a:r>
              <a:rPr sz="1350" b="0">
                <a:solidFill>
                  <a:srgbClr val="0F172A"/>
                </a:solidFill>
                <a:latin typeface="Calibri"/>
              </a:rPr>
              <a:t>_x000B_  (1.0 BPSK + 0.86 QPSK + 1.0 PSK + 1.0 QAM) / 8 = 48.25% (Measured: 48.75%).</a:t>
            </a:r>
          </a:p>
        </p:txBody>
      </p:sp>
      <p:pic>
        <p:nvPicPr>
          <p:cNvPr id="8" name="Picture 7" descr="mlp_accuracy_vs_snr_ver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59697"/>
            <a:ext cx="6492240" cy="38953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ERROR DIAGNOSTICS &amp; PER-CLASS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Confusion Matrix Diagnostics Across Key SNR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10 of 12</a:t>
            </a:r>
          </a:p>
        </p:txBody>
      </p:sp>
      <p:pic>
        <p:nvPicPr>
          <p:cNvPr id="6" name="Picture 5" descr="mlp_confusion_matrices_verified.png"/>
          <p:cNvPicPr>
            <a:picLocks noChangeAspect="1"/>
          </p:cNvPicPr>
          <p:nvPr/>
        </p:nvPicPr>
        <p:blipFill>
          <a:blip r:embed="rId3"/>
          <a:srcRect l="-2532" t="7822" r="33557"/>
          <a:stretch>
            <a:fillRect/>
          </a:stretch>
        </p:blipFill>
        <p:spPr>
          <a:xfrm>
            <a:off x="564801" y="968246"/>
            <a:ext cx="6403304" cy="27350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234440"/>
            <a:ext cx="3931920" cy="49377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62671" y="1399032"/>
            <a:ext cx="3602736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Confusion Matrix Regimes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Low SNR (-4 dB | 21.9%):</a:t>
            </a:r>
            <a:r>
              <a:rPr sz="1350" b="0">
                <a:solidFill>
                  <a:srgbClr val="0F172A"/>
                </a:solidFill>
                <a:latin typeface="Calibri"/>
              </a:rPr>
              <a:t> Broad off-diagonal noise scatter.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Mid SNR (+4 dB | 36.5%):</a:t>
            </a:r>
            <a:r>
              <a:rPr sz="1350" b="0">
                <a:solidFill>
                  <a:srgbClr val="0F172A"/>
                </a:solidFill>
                <a:latin typeface="Calibri"/>
              </a:rPr>
              <a:t> BPSK hits 98%, QPSK reaches 57%.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High SNR (+14 dB | 48.8%):</a:t>
            </a:r>
            <a:r>
              <a:rPr sz="1350" b="0">
                <a:solidFill>
                  <a:srgbClr val="0F172A"/>
                </a:solidFill>
                <a:latin typeface="Calibri"/>
              </a:rPr>
              <a:t> BPSK 100%, QPSK 86%.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Block Confusion:</a:t>
            </a:r>
            <a:r>
              <a:rPr sz="1350" b="0">
                <a:solidFill>
                  <a:srgbClr val="0F172A"/>
                </a:solidFill>
                <a:latin typeface="Calibri"/>
              </a:rPr>
              <a:t> Isolated within {8/16/32PSK} &amp; {16/64/256QAM}.</a:t>
            </a:r>
          </a:p>
        </p:txBody>
      </p:sp>
      <p:pic>
        <p:nvPicPr>
          <p:cNvPr id="10" name="Picture 9" descr="mlp_confusion_matrices_verified.png">
            <a:extLst>
              <a:ext uri="{FF2B5EF4-FFF2-40B4-BE49-F238E27FC236}">
                <a16:creationId xmlns:a16="http://schemas.microsoft.com/office/drawing/2014/main" id="{8E5B89F5-8CE4-7FFC-9CF7-1B69785D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52" t="9391"/>
          <a:stretch>
            <a:fillRect/>
          </a:stretch>
        </p:blipFill>
        <p:spPr>
          <a:xfrm>
            <a:off x="2307061" y="3675887"/>
            <a:ext cx="3168323" cy="2670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WIRELESS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Root-Cause Analysis: Feature Ceiling &amp; QAM Lattice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11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975175" cy="427037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399032"/>
            <a:ext cx="2645991" cy="397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Why ~49% Ceiling?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1300" b="1">
                <a:solidFill>
                  <a:srgbClr val="0F172A"/>
                </a:solidFill>
                <a:latin typeface="Calibri"/>
              </a:rPr>
              <a:t>M&gt;=8 PSK Limit:</a:t>
            </a:r>
            <a:r>
              <a:rPr sz="1300" b="0">
                <a:solidFill>
                  <a:srgbClr val="0F172A"/>
                </a:solidFill>
                <a:latin typeface="Calibri"/>
              </a:rPr>
              <a:t> 8/16/32PSK share identical cumulants up to order 6 (|C40|=0).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1300" b="1">
                <a:solidFill>
                  <a:srgbClr val="0F172A"/>
                </a:solidFill>
                <a:latin typeface="Calibri"/>
              </a:rPr>
              <a:t>Dense QAM Overlap:</a:t>
            </a:r>
            <a:r>
              <a:rPr sz="1300" b="0">
                <a:solidFill>
                  <a:srgbClr val="0F172A"/>
                </a:solidFill>
                <a:latin typeface="Calibri"/>
              </a:rPr>
              <a:t> Short L=128 burst variance blurs 16/64/256QAM rings.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rPr sz="1300" b="1">
                <a:solidFill>
                  <a:srgbClr val="0F172A"/>
                </a:solidFill>
                <a:latin typeface="Calibri"/>
              </a:rPr>
              <a:t>Conclusion:</a:t>
            </a:r>
            <a:r>
              <a:rPr sz="1300" b="0">
                <a:solidFill>
                  <a:srgbClr val="0F172A"/>
                </a:solidFill>
                <a:latin typeface="Calibri"/>
              </a:rPr>
              <a:t> 18-feature limit, NOT an MLP flaw.</a:t>
            </a:r>
          </a:p>
        </p:txBody>
      </p:sp>
      <p:pic>
        <p:nvPicPr>
          <p:cNvPr id="8" name="Picture 7" descr="dense_qam_confusion_large_fo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633" y="1526925"/>
            <a:ext cx="7674576" cy="36756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TOPIC 01 • EDGE DEPLOYMENT &amp; MODELING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Hardware Latency Profiling &amp; Three-Tier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EE136: Machine Learning for Wireless Communications | Capstone Mini-Project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Slide 12 of 12</a:t>
            </a:r>
          </a:p>
        </p:txBody>
      </p:sp>
      <p:pic>
        <p:nvPicPr>
          <p:cNvPr id="6" name="Picture 5" descr="diagram_slide12_latency_ver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620410"/>
            <a:ext cx="6165049" cy="3933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98599" y="1341284"/>
            <a:ext cx="4127074" cy="464803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63191" y="1505876"/>
            <a:ext cx="3797890" cy="4355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Edge Deployment &amp; Trade-Offs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5G Frame Deadline:</a:t>
            </a:r>
            <a:r>
              <a:rPr sz="1350" b="0">
                <a:solidFill>
                  <a:srgbClr val="0F172A"/>
                </a:solidFill>
                <a:latin typeface="Calibri"/>
              </a:rPr>
              <a:t> 1,000 us (1.0 ms).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MLP Speed:</a:t>
            </a:r>
            <a:r>
              <a:rPr sz="1350" b="0">
                <a:solidFill>
                  <a:srgbClr val="0F172A"/>
                </a:solidFill>
                <a:latin typeface="Calibri"/>
              </a:rPr>
              <a:t> 0.71 us (Batch) | ~36 us (Single) -&gt; 1,400x faster than 5G deadline!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Tiny Footprint:</a:t>
            </a:r>
            <a:r>
              <a:rPr sz="1350" b="0">
                <a:solidFill>
                  <a:srgbClr val="0F172A"/>
                </a:solidFill>
                <a:latin typeface="Calibri"/>
              </a:rPr>
              <a:t> 52.5 KB (11,592 params in L1 cache).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  <a:latin typeface="Calibri"/>
              </a:defRPr>
            </a:pPr>
            <a:r>
              <a:rPr sz="1350" b="1">
                <a:solidFill>
                  <a:srgbClr val="0F172A"/>
                </a:solidFill>
                <a:latin typeface="Calibri"/>
              </a:rPr>
              <a:t>Trade-Off:</a:t>
            </a:r>
            <a:r>
              <a:rPr sz="1350" b="0">
                <a:solidFill>
                  <a:srgbClr val="0F172A"/>
                </a:solidFill>
                <a:latin typeface="Calibri"/>
              </a:rPr>
              <a:t> Fastest for IoT edge; 1D-CNN needs raw I/Q + GPU.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1703</Words>
  <Application>Microsoft Office PowerPoint</Application>
  <PresentationFormat>Widescreen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HONG HAI NGUYEN</cp:lastModifiedBy>
  <cp:revision>15</cp:revision>
  <dcterms:created xsi:type="dcterms:W3CDTF">2013-01-27T09:14:16Z</dcterms:created>
  <dcterms:modified xsi:type="dcterms:W3CDTF">2026-10-19T12:27:42Z</dcterms:modified>
  <cp:category/>
</cp:coreProperties>
</file>