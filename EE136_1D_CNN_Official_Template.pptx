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77" r:id="rId28"/>
    <p:sldId id="278" r:id="rId29"/>
    <p:sldId id="279" r:id="rId30"/>
    <p:sldId id="280" r:id="rId31"/>
    <p:sldId id="281" r:id="rId32"/>
    <p:sldId id="282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5"/>
  </p:normalViewPr>
  <p:slideViewPr>
    <p:cSldViewPr snapToGrid="0" snapToObjects="1">
      <p:cViewPr varScale="1">
        <p:scale>
          <a:sx n="119" d="100"/>
          <a:sy n="119" d="100"/>
        </p:scale>
        <p:origin x="85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98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38912"/>
            <a:ext cx="347472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0" rIns="109728" bIns="0" rtlCol="0" anchor="ctr"/>
          <a:lstStyle/>
          <a:p>
            <a:pPr algn="ctr"/>
            <a:r>
              <a:rPr sz="1200" b="1">
                <a:solidFill>
                  <a:srgbClr val="0284C7"/>
                </a:solidFill>
                <a:latin typeface="Manrope"/>
              </a:rPr>
              <a:t>TOPIC 01 • 1D CNN BENCHMARK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0467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Manrope"/>
              </a:rPr>
              <a:t>1D CNN Architecture &amp; Training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9844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53647C"/>
                </a:solidFill>
                <a:latin typeface="Inter"/>
              </a:rPr>
              <a:t>Raw 128-sample I/Q bursts | 8 digital modulation classes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035040"/>
            <a:ext cx="10728655" cy="9144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6172200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53647C"/>
                </a:solidFill>
                <a:latin typeface="Inter"/>
              </a:rPr>
              <a:t>EE136: Machine Learning for Wireless Communications | Topic 1 • 1D CNN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172200"/>
            <a:ext cx="185897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0F172A"/>
                </a:solidFill>
                <a:latin typeface="Inter"/>
              </a:rPr>
              <a:t>Slide 1 of 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700784"/>
            <a:ext cx="6903720" cy="4178808"/>
          </a:xfrm>
          <a:prstGeom prst="roundRect">
            <a:avLst/>
          </a:prstGeom>
          <a:solidFill>
            <a:srgbClr val="F8FAFC"/>
          </a:solidFill>
          <a:ln w="1143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790688" y="1700784"/>
            <a:ext cx="3666744" cy="4178808"/>
          </a:xfrm>
          <a:prstGeom prst="roundRect">
            <a:avLst/>
          </a:prstGeom>
          <a:solidFill>
            <a:srgbClr val="F8FAFC"/>
          </a:solidFill>
          <a:ln w="1143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" y="1911095"/>
            <a:ext cx="5486400" cy="256032"/>
          </a:xfrm>
          <a:prstGeom prst="rect">
            <a:avLst/>
          </a:prstGeom>
          <a:noFill/>
        </p:spPr>
        <p:txBody>
          <a:bodyPr wrap="square" lIns="27432" tIns="18288" rIns="18288" bIns="9144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284C7"/>
                </a:solidFill>
                <a:latin typeface="Manrope"/>
              </a:defRPr>
            </a:pPr>
            <a:r>
              <a:t>THREE CONVOLUTION BLOCKS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1832" y="2551176"/>
            <a:ext cx="1179576" cy="896112"/>
          </a:xfrm>
          <a:prstGeom prst="roundRect">
            <a:avLst/>
          </a:prstGeom>
          <a:solidFill>
            <a:srgbClr val="EFF6FF"/>
          </a:solidFill>
          <a:ln w="11430">
            <a:solidFill>
              <a:srgbClr val="A8C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2715768"/>
            <a:ext cx="1078992" cy="228600"/>
          </a:xfrm>
          <a:prstGeom prst="rect">
            <a:avLst/>
          </a:prstGeom>
          <a:noFill/>
        </p:spPr>
        <p:txBody>
          <a:bodyPr wrap="square" lIns="27432" tIns="18288" rIns="18288" bIns="9144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0F172A"/>
                </a:solidFill>
                <a:latin typeface="Manrope"/>
              </a:defRPr>
            </a:pPr>
            <a:r>
              <a:t>Input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3017520"/>
            <a:ext cx="1069848" cy="210312"/>
          </a:xfrm>
          <a:prstGeom prst="rect">
            <a:avLst/>
          </a:prstGeom>
          <a:noFill/>
        </p:spPr>
        <p:txBody>
          <a:bodyPr wrap="square" lIns="27432" tIns="18288" rIns="18288" bIns="9144">
            <a:spAutoFit/>
          </a:bodyPr>
          <a:lstStyle/>
          <a:p>
            <a:pPr algn="ctr">
              <a:spcAft>
                <a:spcPts val="200"/>
              </a:spcAft>
              <a:defRPr sz="1000" b="0">
                <a:solidFill>
                  <a:srgbClr val="0F172A"/>
                </a:solidFill>
                <a:latin typeface="Consolas"/>
              </a:defRPr>
            </a:pPr>
            <a:r>
              <a:t>2 × 128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49424" y="2551176"/>
            <a:ext cx="1179576" cy="89611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A8C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95144" y="2715768"/>
            <a:ext cx="1078992" cy="228600"/>
          </a:xfrm>
          <a:prstGeom prst="rect">
            <a:avLst/>
          </a:prstGeom>
          <a:noFill/>
        </p:spPr>
        <p:txBody>
          <a:bodyPr wrap="square" lIns="27432" tIns="18288" rIns="18288" bIns="9144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0F172A"/>
                </a:solidFill>
                <a:latin typeface="Manrope"/>
              </a:defRPr>
            </a:pPr>
            <a:r>
              <a:t>Block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95144" y="3017520"/>
            <a:ext cx="1069848" cy="210312"/>
          </a:xfrm>
          <a:prstGeom prst="rect">
            <a:avLst/>
          </a:prstGeom>
          <a:noFill/>
        </p:spPr>
        <p:txBody>
          <a:bodyPr wrap="square" lIns="27432" tIns="18288" rIns="18288" bIns="9144">
            <a:spAutoFit/>
          </a:bodyPr>
          <a:lstStyle/>
          <a:p>
            <a:pPr algn="ctr">
              <a:spcAft>
                <a:spcPts val="200"/>
              </a:spcAft>
              <a:defRPr sz="1000" b="0">
                <a:solidFill>
                  <a:srgbClr val="0F172A"/>
                </a:solidFill>
                <a:latin typeface="Consolas"/>
              </a:defRPr>
            </a:pPr>
            <a:r>
              <a:t>2 → 32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57015" y="2551176"/>
            <a:ext cx="1179576" cy="89611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A8C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02735" y="2715768"/>
            <a:ext cx="1078992" cy="228600"/>
          </a:xfrm>
          <a:prstGeom prst="rect">
            <a:avLst/>
          </a:prstGeom>
          <a:noFill/>
        </p:spPr>
        <p:txBody>
          <a:bodyPr wrap="square" lIns="27432" tIns="18288" rIns="18288" bIns="9144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0F172A"/>
                </a:solidFill>
                <a:latin typeface="Manrope"/>
              </a:defRPr>
            </a:pPr>
            <a:r>
              <a:t>Block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02735" y="3017520"/>
            <a:ext cx="1069848" cy="210312"/>
          </a:xfrm>
          <a:prstGeom prst="rect">
            <a:avLst/>
          </a:prstGeom>
          <a:noFill/>
        </p:spPr>
        <p:txBody>
          <a:bodyPr wrap="square" lIns="27432" tIns="18288" rIns="18288" bIns="9144">
            <a:spAutoFit/>
          </a:bodyPr>
          <a:lstStyle/>
          <a:p>
            <a:pPr algn="ctr">
              <a:spcAft>
                <a:spcPts val="200"/>
              </a:spcAft>
              <a:defRPr sz="1000" b="0">
                <a:solidFill>
                  <a:srgbClr val="0F172A"/>
                </a:solidFill>
                <a:latin typeface="Consolas"/>
              </a:defRPr>
            </a:pPr>
            <a:r>
              <a:t>32 → 64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64608" y="2551176"/>
            <a:ext cx="1179576" cy="89611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A8C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10328" y="2715768"/>
            <a:ext cx="1078992" cy="228600"/>
          </a:xfrm>
          <a:prstGeom prst="rect">
            <a:avLst/>
          </a:prstGeom>
          <a:noFill/>
        </p:spPr>
        <p:txBody>
          <a:bodyPr wrap="square" lIns="27432" tIns="18288" rIns="18288" bIns="9144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0F172A"/>
                </a:solidFill>
                <a:latin typeface="Manrope"/>
              </a:defRPr>
            </a:pPr>
            <a:r>
              <a:t>Block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10328" y="3017520"/>
            <a:ext cx="1069848" cy="210312"/>
          </a:xfrm>
          <a:prstGeom prst="rect">
            <a:avLst/>
          </a:prstGeom>
          <a:noFill/>
        </p:spPr>
        <p:txBody>
          <a:bodyPr wrap="square" lIns="27432" tIns="18288" rIns="18288" bIns="9144">
            <a:spAutoFit/>
          </a:bodyPr>
          <a:lstStyle/>
          <a:p>
            <a:pPr algn="ctr">
              <a:spcAft>
                <a:spcPts val="200"/>
              </a:spcAft>
              <a:defRPr sz="1000" b="0">
                <a:solidFill>
                  <a:srgbClr val="0F172A"/>
                </a:solidFill>
                <a:latin typeface="Consolas"/>
              </a:defRPr>
            </a:pPr>
            <a:r>
              <a:t>64 → 128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2551176"/>
            <a:ext cx="1179576" cy="896112"/>
          </a:xfrm>
          <a:prstGeom prst="roundRect">
            <a:avLst/>
          </a:prstGeom>
          <a:solidFill>
            <a:srgbClr val="EFF6FF"/>
          </a:solidFill>
          <a:ln w="11430">
            <a:solidFill>
              <a:srgbClr val="A8C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0" y="2715768"/>
            <a:ext cx="1078992" cy="228600"/>
          </a:xfrm>
          <a:prstGeom prst="rect">
            <a:avLst/>
          </a:prstGeom>
          <a:noFill/>
        </p:spPr>
        <p:txBody>
          <a:bodyPr wrap="square" lIns="27432" tIns="18288" rIns="18288" bIns="9144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0F172A"/>
                </a:solidFill>
                <a:latin typeface="Manrope"/>
              </a:defRPr>
            </a:pPr>
            <a:r>
              <a:t>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3017520"/>
            <a:ext cx="1069848" cy="210312"/>
          </a:xfrm>
          <a:prstGeom prst="rect">
            <a:avLst/>
          </a:prstGeom>
          <a:noFill/>
        </p:spPr>
        <p:txBody>
          <a:bodyPr wrap="square" lIns="27432" tIns="18288" rIns="18288" bIns="9144">
            <a:spAutoFit/>
          </a:bodyPr>
          <a:lstStyle/>
          <a:p>
            <a:pPr algn="ctr">
              <a:spcAft>
                <a:spcPts val="200"/>
              </a:spcAft>
              <a:defRPr sz="1000" b="0">
                <a:solidFill>
                  <a:srgbClr val="0F172A"/>
                </a:solidFill>
                <a:latin typeface="Consolas"/>
              </a:defRPr>
            </a:pPr>
            <a:r>
              <a:t>8 classes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" y="3840480"/>
            <a:ext cx="6364224" cy="365760"/>
          </a:xfrm>
          <a:prstGeom prst="rect">
            <a:avLst/>
          </a:prstGeom>
          <a:noFill/>
        </p:spPr>
        <p:txBody>
          <a:bodyPr wrap="square" lIns="27432" tIns="18288" rIns="18288" bIns="9144">
            <a:spAutoFit/>
          </a:bodyPr>
          <a:lstStyle/>
          <a:p>
            <a:pPr algn="ctr">
              <a:spcAft>
                <a:spcPts val="200"/>
              </a:spcAft>
              <a:defRPr sz="1200" b="1">
                <a:solidFill>
                  <a:srgbClr val="0F172A"/>
                </a:solidFill>
                <a:latin typeface="Inter"/>
              </a:defRPr>
            </a:pPr>
            <a:r>
              <a:t>Conv1D (k=5) + BatchNorm + ReLU + MaxPool(2) in each block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" y="4407408"/>
            <a:ext cx="6364224" cy="310896"/>
          </a:xfrm>
          <a:prstGeom prst="rect">
            <a:avLst/>
          </a:prstGeom>
          <a:noFill/>
        </p:spPr>
        <p:txBody>
          <a:bodyPr wrap="square" lIns="27432" tIns="18288" rIns="18288" bIns="9144">
            <a:spAutoFit/>
          </a:bodyPr>
          <a:lstStyle/>
          <a:p>
            <a:pPr algn="ctr">
              <a:spcAft>
                <a:spcPts val="200"/>
              </a:spcAft>
              <a:defRPr sz="1100" b="0">
                <a:solidFill>
                  <a:srgbClr val="53647C"/>
                </a:solidFill>
                <a:latin typeface="Inter"/>
              </a:defRPr>
            </a:pPr>
            <a:r>
              <a:t>AdaptiveAvgPool → Dropout (0.25) → Linear (8 outputs)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65008" y="1938528"/>
            <a:ext cx="3017520" cy="256032"/>
          </a:xfrm>
          <a:prstGeom prst="rect">
            <a:avLst/>
          </a:prstGeom>
          <a:noFill/>
        </p:spPr>
        <p:txBody>
          <a:bodyPr wrap="square" lIns="27432" tIns="18288" rIns="18288" bIns="9144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284C7"/>
                </a:solidFill>
                <a:latin typeface="Manrope"/>
              </a:defRPr>
            </a:pPr>
            <a:r>
              <a:t>MODEL CONFIGURATION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74152" y="2340864"/>
            <a:ext cx="1581912" cy="256032"/>
          </a:xfrm>
          <a:prstGeom prst="rect">
            <a:avLst/>
          </a:prstGeom>
          <a:noFill/>
        </p:spPr>
        <p:txBody>
          <a:bodyPr wrap="square" lIns="27432" tIns="18288" rIns="18288" bIns="9144">
            <a:spAutoFit/>
          </a:bodyPr>
          <a:lstStyle/>
          <a:p>
            <a:pPr>
              <a:spcAft>
                <a:spcPts val="200"/>
              </a:spcAft>
              <a:defRPr sz="1000" b="0">
                <a:solidFill>
                  <a:srgbClr val="53647C"/>
                </a:solidFill>
                <a:latin typeface="Inter"/>
              </a:defRPr>
            </a:pPr>
            <a:r>
              <a:t>Training data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56064" y="2340864"/>
            <a:ext cx="1572768" cy="274320"/>
          </a:xfrm>
          <a:prstGeom prst="rect">
            <a:avLst/>
          </a:prstGeom>
          <a:noFill/>
        </p:spPr>
        <p:txBody>
          <a:bodyPr wrap="square" lIns="27432" tIns="18288" rIns="18288" bIns="9144">
            <a:spAutoFit/>
          </a:bodyPr>
          <a:lstStyle/>
          <a:p>
            <a:pPr algn="r">
              <a:spcAft>
                <a:spcPts val="200"/>
              </a:spcAft>
              <a:defRPr sz="1000" b="1">
                <a:solidFill>
                  <a:srgbClr val="0F172A"/>
                </a:solidFill>
                <a:latin typeface="Inter"/>
              </a:defRPr>
            </a:pPr>
            <a:r>
              <a:t>67,200 bursts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74152" y="2788920"/>
            <a:ext cx="1581912" cy="256032"/>
          </a:xfrm>
          <a:prstGeom prst="rect">
            <a:avLst/>
          </a:prstGeom>
          <a:noFill/>
        </p:spPr>
        <p:txBody>
          <a:bodyPr wrap="square" lIns="27432" tIns="18288" rIns="18288" bIns="9144">
            <a:spAutoFit/>
          </a:bodyPr>
          <a:lstStyle/>
          <a:p>
            <a:pPr>
              <a:spcAft>
                <a:spcPts val="200"/>
              </a:spcAft>
              <a:defRPr sz="1000" b="0">
                <a:solidFill>
                  <a:srgbClr val="53647C"/>
                </a:solidFill>
                <a:latin typeface="Inter"/>
              </a:defRPr>
            </a:pPr>
            <a:r>
              <a:t>Validation / test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56064" y="2788920"/>
            <a:ext cx="1572768" cy="274320"/>
          </a:xfrm>
          <a:prstGeom prst="rect">
            <a:avLst/>
          </a:prstGeom>
          <a:noFill/>
        </p:spPr>
        <p:txBody>
          <a:bodyPr wrap="square" lIns="27432" tIns="18288" rIns="18288" bIns="9144">
            <a:spAutoFit/>
          </a:bodyPr>
          <a:lstStyle/>
          <a:p>
            <a:pPr algn="r">
              <a:spcAft>
                <a:spcPts val="200"/>
              </a:spcAft>
              <a:defRPr sz="1000" b="1">
                <a:solidFill>
                  <a:srgbClr val="0F172A"/>
                </a:solidFill>
                <a:latin typeface="Inter"/>
              </a:defRPr>
            </a:pPr>
            <a:r>
              <a:t>14,400 each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74152" y="3236976"/>
            <a:ext cx="1581912" cy="256032"/>
          </a:xfrm>
          <a:prstGeom prst="rect">
            <a:avLst/>
          </a:prstGeom>
          <a:noFill/>
        </p:spPr>
        <p:txBody>
          <a:bodyPr wrap="square" lIns="27432" tIns="18288" rIns="18288" bIns="9144">
            <a:spAutoFit/>
          </a:bodyPr>
          <a:lstStyle/>
          <a:p>
            <a:pPr>
              <a:spcAft>
                <a:spcPts val="200"/>
              </a:spcAft>
              <a:defRPr sz="1000" b="0">
                <a:solidFill>
                  <a:srgbClr val="53647C"/>
                </a:solidFill>
                <a:latin typeface="Inter"/>
              </a:defRPr>
            </a:pPr>
            <a:r>
              <a:t>Batch size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56064" y="3236976"/>
            <a:ext cx="1572768" cy="274320"/>
          </a:xfrm>
          <a:prstGeom prst="rect">
            <a:avLst/>
          </a:prstGeom>
          <a:noFill/>
        </p:spPr>
        <p:txBody>
          <a:bodyPr wrap="square" lIns="27432" tIns="18288" rIns="18288" bIns="9144">
            <a:spAutoFit/>
          </a:bodyPr>
          <a:lstStyle/>
          <a:p>
            <a:pPr algn="r">
              <a:spcAft>
                <a:spcPts val="200"/>
              </a:spcAft>
              <a:defRPr sz="1000" b="1">
                <a:solidFill>
                  <a:srgbClr val="0F172A"/>
                </a:solidFill>
                <a:latin typeface="Inter"/>
              </a:defRPr>
            </a:pPr>
            <a:r>
              <a:t>256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74152" y="3685032"/>
            <a:ext cx="1581912" cy="256032"/>
          </a:xfrm>
          <a:prstGeom prst="rect">
            <a:avLst/>
          </a:prstGeom>
          <a:noFill/>
        </p:spPr>
        <p:txBody>
          <a:bodyPr wrap="square" lIns="27432" tIns="18288" rIns="18288" bIns="9144">
            <a:spAutoFit/>
          </a:bodyPr>
          <a:lstStyle/>
          <a:p>
            <a:pPr>
              <a:spcAft>
                <a:spcPts val="200"/>
              </a:spcAft>
              <a:defRPr sz="1000" b="0">
                <a:solidFill>
                  <a:srgbClr val="53647C"/>
                </a:solidFill>
                <a:latin typeface="Inter"/>
              </a:defRPr>
            </a:pPr>
            <a:r>
              <a:t>Optimizer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56064" y="3685032"/>
            <a:ext cx="1572768" cy="274320"/>
          </a:xfrm>
          <a:prstGeom prst="rect">
            <a:avLst/>
          </a:prstGeom>
          <a:noFill/>
        </p:spPr>
        <p:txBody>
          <a:bodyPr wrap="square" lIns="27432" tIns="18288" rIns="18288" bIns="9144">
            <a:spAutoFit/>
          </a:bodyPr>
          <a:lstStyle/>
          <a:p>
            <a:pPr algn="r">
              <a:spcAft>
                <a:spcPts val="200"/>
              </a:spcAft>
              <a:defRPr sz="1000" b="1">
                <a:solidFill>
                  <a:srgbClr val="0F172A"/>
                </a:solidFill>
                <a:latin typeface="Inter"/>
              </a:defRPr>
            </a:pPr>
            <a:r>
              <a:t>Adam, LR = 0.001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74152" y="4133087"/>
            <a:ext cx="1581912" cy="256032"/>
          </a:xfrm>
          <a:prstGeom prst="rect">
            <a:avLst/>
          </a:prstGeom>
          <a:noFill/>
        </p:spPr>
        <p:txBody>
          <a:bodyPr wrap="square" lIns="27432" tIns="18288" rIns="18288" bIns="9144">
            <a:spAutoFit/>
          </a:bodyPr>
          <a:lstStyle/>
          <a:p>
            <a:pPr>
              <a:spcAft>
                <a:spcPts val="200"/>
              </a:spcAft>
              <a:defRPr sz="1000" b="0">
                <a:solidFill>
                  <a:srgbClr val="53647C"/>
                </a:solidFill>
                <a:latin typeface="Inter"/>
              </a:defRPr>
            </a:pPr>
            <a:r>
              <a:t>Criterion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56064" y="4133087"/>
            <a:ext cx="1572768" cy="274320"/>
          </a:xfrm>
          <a:prstGeom prst="rect">
            <a:avLst/>
          </a:prstGeom>
          <a:noFill/>
        </p:spPr>
        <p:txBody>
          <a:bodyPr wrap="square" lIns="27432" tIns="18288" rIns="18288" bIns="9144">
            <a:spAutoFit/>
          </a:bodyPr>
          <a:lstStyle/>
          <a:p>
            <a:pPr algn="r">
              <a:spcAft>
                <a:spcPts val="200"/>
              </a:spcAft>
              <a:defRPr sz="1000" b="1">
                <a:solidFill>
                  <a:srgbClr val="0F172A"/>
                </a:solidFill>
                <a:latin typeface="Inter"/>
              </a:defRPr>
            </a:pPr>
            <a:r>
              <a:t>Cross-entropy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74152" y="4581144"/>
            <a:ext cx="1581912" cy="256032"/>
          </a:xfrm>
          <a:prstGeom prst="rect">
            <a:avLst/>
          </a:prstGeom>
          <a:noFill/>
        </p:spPr>
        <p:txBody>
          <a:bodyPr wrap="square" lIns="27432" tIns="18288" rIns="18288" bIns="9144">
            <a:spAutoFit/>
          </a:bodyPr>
          <a:lstStyle/>
          <a:p>
            <a:pPr>
              <a:spcAft>
                <a:spcPts val="200"/>
              </a:spcAft>
              <a:defRPr sz="1000" b="0">
                <a:solidFill>
                  <a:srgbClr val="53647C"/>
                </a:solidFill>
                <a:latin typeface="Inter"/>
              </a:defRPr>
            </a:pPr>
            <a:r>
              <a:t>Parameters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56064" y="4581144"/>
            <a:ext cx="1572768" cy="274320"/>
          </a:xfrm>
          <a:prstGeom prst="rect">
            <a:avLst/>
          </a:prstGeom>
          <a:noFill/>
        </p:spPr>
        <p:txBody>
          <a:bodyPr wrap="square" lIns="27432" tIns="18288" rIns="18288" bIns="9144">
            <a:spAutoFit/>
          </a:bodyPr>
          <a:lstStyle/>
          <a:p>
            <a:pPr algn="r">
              <a:spcAft>
                <a:spcPts val="200"/>
              </a:spcAft>
              <a:defRPr sz="1000" b="1">
                <a:solidFill>
                  <a:srgbClr val="0F172A"/>
                </a:solidFill>
                <a:latin typeface="Inter"/>
              </a:defRPr>
            </a:pPr>
            <a:r>
              <a:t>53,224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74152" y="5029200"/>
            <a:ext cx="1581912" cy="256032"/>
          </a:xfrm>
          <a:prstGeom prst="rect">
            <a:avLst/>
          </a:prstGeom>
          <a:noFill/>
        </p:spPr>
        <p:txBody>
          <a:bodyPr wrap="square" lIns="27432" tIns="18288" rIns="18288" bIns="9144">
            <a:spAutoFit/>
          </a:bodyPr>
          <a:lstStyle/>
          <a:p>
            <a:pPr>
              <a:spcAft>
                <a:spcPts val="200"/>
              </a:spcAft>
              <a:defRPr sz="1000" b="0">
                <a:solidFill>
                  <a:srgbClr val="53647C"/>
                </a:solidFill>
                <a:latin typeface="Inter"/>
              </a:defRPr>
            </a:pPr>
            <a:r>
              <a:t>Best epoch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56064" y="5029200"/>
            <a:ext cx="1572768" cy="274320"/>
          </a:xfrm>
          <a:prstGeom prst="rect">
            <a:avLst/>
          </a:prstGeom>
          <a:noFill/>
        </p:spPr>
        <p:txBody>
          <a:bodyPr wrap="square" lIns="27432" tIns="18288" rIns="18288" bIns="9144">
            <a:spAutoFit/>
          </a:bodyPr>
          <a:lstStyle/>
          <a:p>
            <a:pPr algn="r">
              <a:spcAft>
                <a:spcPts val="200"/>
              </a:spcAft>
              <a:defRPr sz="1000" b="1">
                <a:solidFill>
                  <a:srgbClr val="0F172A"/>
                </a:solidFill>
                <a:latin typeface="Inter"/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38912"/>
            <a:ext cx="347472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0" rIns="109728" bIns="0" rtlCol="0" anchor="ctr"/>
          <a:lstStyle/>
          <a:p>
            <a:pPr algn="ctr"/>
            <a:r>
              <a:rPr sz="1200" b="1">
                <a:solidFill>
                  <a:srgbClr val="0284C7"/>
                </a:solidFill>
                <a:latin typeface="Manrope"/>
              </a:rPr>
              <a:t>TOPIC 01 • 1D CNN BENCHMARK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0467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Manrope"/>
              </a:rPr>
              <a:t>Training Dynamics &amp; Model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9844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53647C"/>
                </a:solidFill>
                <a:latin typeface="Inter"/>
              </a:rPr>
              <a:t>Initial 30 epochs plus 7 additional epochs | Early stopping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035040"/>
            <a:ext cx="10728655" cy="9144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6172200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53647C"/>
                </a:solidFill>
                <a:latin typeface="Inter"/>
              </a:rPr>
              <a:t>EE136: Machine Learning for Wireless Communications | Topic 1 • 1D CNN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172200"/>
            <a:ext cx="185897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0F172A"/>
                </a:solidFill>
                <a:latin typeface="Inter"/>
              </a:rPr>
              <a:t>Slide 2 of 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691640"/>
            <a:ext cx="7818120" cy="4206240"/>
          </a:xfrm>
          <a:prstGeom prst="roundRect">
            <a:avLst/>
          </a:prstGeom>
          <a:solidFill>
            <a:srgbClr val="F8FAFC"/>
          </a:solidFill>
          <a:ln w="1143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705088" y="1691640"/>
            <a:ext cx="2761488" cy="4206240"/>
          </a:xfrm>
          <a:prstGeom prst="roundRect">
            <a:avLst/>
          </a:prstGeom>
          <a:solidFill>
            <a:srgbClr val="F8FAFC"/>
          </a:solidFill>
          <a:ln w="1143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trai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360024"/>
            <a:ext cx="7424927" cy="268659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933688" y="1965960"/>
            <a:ext cx="2331720" cy="256032"/>
          </a:xfrm>
          <a:prstGeom prst="rect">
            <a:avLst/>
          </a:prstGeom>
          <a:noFill/>
        </p:spPr>
        <p:txBody>
          <a:bodyPr wrap="square" lIns="27432" tIns="18288" rIns="18288" bIns="9144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284C7"/>
                </a:solidFill>
                <a:latin typeface="Manrope"/>
              </a:defRPr>
            </a:pPr>
            <a:r>
              <a:t>TRAINING FINDINGS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24544" y="2423160"/>
            <a:ext cx="2267712" cy="3081528"/>
          </a:xfrm>
          <a:prstGeom prst="rect">
            <a:avLst/>
          </a:prstGeom>
          <a:noFill/>
        </p:spPr>
        <p:txBody>
          <a:bodyPr wrap="square" lIns="27432" tIns="18288" rIns="18288" bIns="9144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0F172A"/>
                </a:solidFill>
                <a:latin typeface="Inter"/>
              </a:defRPr>
            </a:pPr>
            <a:r>
              <a:t>• Validation loss flattens near 1.39–1.40.</a:t>
            </a:r>
          </a:p>
          <a:p>
            <a:pPr>
              <a:spcAft>
                <a:spcPts val="200"/>
              </a:spcAft>
              <a:defRPr sz="1100" b="0">
                <a:solidFill>
                  <a:srgbClr val="0F172A"/>
                </a:solidFill>
                <a:latin typeface="Inter"/>
              </a:defRPr>
            </a:pPr>
          </a:p>
          <a:p>
            <a:pPr>
              <a:spcAft>
                <a:spcPts val="200"/>
              </a:spcAft>
              <a:defRPr sz="1100" b="0">
                <a:solidFill>
                  <a:srgbClr val="0F172A"/>
                </a:solidFill>
                <a:latin typeface="Inter"/>
              </a:defRPr>
            </a:pPr>
            <a:r>
              <a:t>• Training accuracy rises, but validation remains near 39%.</a:t>
            </a:r>
          </a:p>
          <a:p>
            <a:pPr>
              <a:spcAft>
                <a:spcPts val="200"/>
              </a:spcAft>
              <a:defRPr sz="1100" b="0">
                <a:solidFill>
                  <a:srgbClr val="0F172A"/>
                </a:solidFill>
                <a:latin typeface="Inter"/>
              </a:defRPr>
            </a:pPr>
          </a:p>
          <a:p>
            <a:pPr>
              <a:spcAft>
                <a:spcPts val="200"/>
              </a:spcAft>
              <a:defRPr sz="1100" b="0">
                <a:solidFill>
                  <a:srgbClr val="0F172A"/>
                </a:solidFill>
                <a:latin typeface="Inter"/>
              </a:defRPr>
            </a:pPr>
            <a:r>
              <a:t>• Best checkpoint: epoch 28.</a:t>
            </a:r>
          </a:p>
          <a:p>
            <a:pPr>
              <a:spcAft>
                <a:spcPts val="200"/>
              </a:spcAft>
              <a:defRPr sz="1100" b="0">
                <a:solidFill>
                  <a:srgbClr val="0F172A"/>
                </a:solidFill>
                <a:latin typeface="Inter"/>
              </a:defRPr>
            </a:pPr>
          </a:p>
          <a:p>
            <a:pPr>
              <a:spcAft>
                <a:spcPts val="200"/>
              </a:spcAft>
              <a:defRPr sz="1100" b="0">
                <a:solidFill>
                  <a:srgbClr val="0F172A"/>
                </a:solidFill>
                <a:latin typeface="Inter"/>
              </a:defRPr>
            </a:pPr>
            <a:r>
              <a:t>• Early stopping: epoch 37.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38912"/>
            <a:ext cx="347472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0" rIns="109728" bIns="0" rtlCol="0" anchor="ctr"/>
          <a:lstStyle/>
          <a:p>
            <a:pPr algn="ctr"/>
            <a:r>
              <a:rPr sz="1200" b="1">
                <a:solidFill>
                  <a:srgbClr val="0284C7"/>
                </a:solidFill>
                <a:latin typeface="Manrope"/>
              </a:rPr>
              <a:t>TOPIC 01 • 1D CNN BENCHMARK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0467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Manrope"/>
              </a:rPr>
              <a:t>Test Results &amp; Per-Class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9844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53647C"/>
                </a:solidFill>
                <a:latin typeface="Inter"/>
              </a:rPr>
              <a:t>14,400 held-out test bursts | fixed split and 8 classes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035040"/>
            <a:ext cx="10728655" cy="9144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6172200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53647C"/>
                </a:solidFill>
                <a:latin typeface="Inter"/>
              </a:rPr>
              <a:t>EE136: Machine Learning for Wireless Communications | Topic 1 • 1D CNN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172200"/>
            <a:ext cx="185897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0F172A"/>
                </a:solidFill>
                <a:latin typeface="Inter"/>
              </a:rPr>
              <a:t>Slide 3 of 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700784"/>
            <a:ext cx="2542032" cy="1152144"/>
          </a:xfrm>
          <a:prstGeom prst="roundRect">
            <a:avLst/>
          </a:prstGeom>
          <a:solidFill>
            <a:srgbClr val="F8FAFC"/>
          </a:solidFill>
          <a:ln w="1143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892807"/>
            <a:ext cx="2295144" cy="201168"/>
          </a:xfrm>
          <a:prstGeom prst="rect">
            <a:avLst/>
          </a:prstGeom>
          <a:noFill/>
        </p:spPr>
        <p:txBody>
          <a:bodyPr wrap="square" lIns="27432" tIns="18288" rIns="18288" bIns="9144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53647C"/>
                </a:solidFill>
                <a:latin typeface="Manrope"/>
              </a:defRPr>
            </a:pPr>
            <a:r>
              <a:t>TEST ACCURACY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167128"/>
            <a:ext cx="2295144" cy="411480"/>
          </a:xfrm>
          <a:prstGeom prst="rect">
            <a:avLst/>
          </a:prstGeom>
          <a:noFill/>
        </p:spPr>
        <p:txBody>
          <a:bodyPr wrap="square" lIns="27432" tIns="18288" rIns="18288" bIns="9144">
            <a:spAutoFit/>
          </a:bodyPr>
          <a:lstStyle/>
          <a:p>
            <a:pPr>
              <a:spcAft>
                <a:spcPts val="200"/>
              </a:spcAft>
              <a:defRPr sz="2400" b="1">
                <a:solidFill>
                  <a:srgbClr val="0F172A"/>
                </a:solidFill>
                <a:latin typeface="Manrope"/>
              </a:defRPr>
            </a:pPr>
            <a:r>
              <a:t>39.22%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65576" y="1700784"/>
            <a:ext cx="2542032" cy="1152144"/>
          </a:xfrm>
          <a:prstGeom prst="roundRect">
            <a:avLst/>
          </a:prstGeom>
          <a:solidFill>
            <a:srgbClr val="F8FAFC"/>
          </a:solidFill>
          <a:ln w="1143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02736" y="1892807"/>
            <a:ext cx="2295144" cy="201168"/>
          </a:xfrm>
          <a:prstGeom prst="rect">
            <a:avLst/>
          </a:prstGeom>
          <a:noFill/>
        </p:spPr>
        <p:txBody>
          <a:bodyPr wrap="square" lIns="27432" tIns="18288" rIns="18288" bIns="9144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53647C"/>
                </a:solidFill>
                <a:latin typeface="Manrope"/>
              </a:defRPr>
            </a:pPr>
            <a:r>
              <a:t>MACRO-F1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2736" y="2167128"/>
            <a:ext cx="2295144" cy="411480"/>
          </a:xfrm>
          <a:prstGeom prst="rect">
            <a:avLst/>
          </a:prstGeom>
          <a:noFill/>
        </p:spPr>
        <p:txBody>
          <a:bodyPr wrap="square" lIns="27432" tIns="18288" rIns="18288" bIns="9144">
            <a:spAutoFit/>
          </a:bodyPr>
          <a:lstStyle/>
          <a:p>
            <a:pPr>
              <a:spcAft>
                <a:spcPts val="200"/>
              </a:spcAft>
              <a:defRPr sz="2400" b="1">
                <a:solidFill>
                  <a:srgbClr val="0F172A"/>
                </a:solidFill>
                <a:latin typeface="Manrope"/>
              </a:defRPr>
            </a:pPr>
            <a:r>
              <a:t>35.97%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632" y="1700784"/>
            <a:ext cx="2542032" cy="1152144"/>
          </a:xfrm>
          <a:prstGeom prst="roundRect">
            <a:avLst/>
          </a:prstGeom>
          <a:solidFill>
            <a:srgbClr val="F8FAFC"/>
          </a:solidFill>
          <a:ln w="1143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36792" y="1892807"/>
            <a:ext cx="2295144" cy="201168"/>
          </a:xfrm>
          <a:prstGeom prst="rect">
            <a:avLst/>
          </a:prstGeom>
          <a:noFill/>
        </p:spPr>
        <p:txBody>
          <a:bodyPr wrap="square" lIns="27432" tIns="18288" rIns="18288" bIns="9144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53647C"/>
                </a:solidFill>
                <a:latin typeface="Manrope"/>
              </a:defRPr>
            </a:pPr>
            <a:r>
              <a:t>MODEL SIZE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6792" y="2167128"/>
            <a:ext cx="2295144" cy="411480"/>
          </a:xfrm>
          <a:prstGeom prst="rect">
            <a:avLst/>
          </a:prstGeom>
          <a:noFill/>
        </p:spPr>
        <p:txBody>
          <a:bodyPr wrap="square" lIns="27432" tIns="18288" rIns="18288" bIns="9144">
            <a:spAutoFit/>
          </a:bodyPr>
          <a:lstStyle/>
          <a:p>
            <a:pPr>
              <a:spcAft>
                <a:spcPts val="200"/>
              </a:spcAft>
              <a:defRPr sz="2400" b="1">
                <a:solidFill>
                  <a:srgbClr val="0F172A"/>
                </a:solidFill>
                <a:latin typeface="Manrope"/>
              </a:defRPr>
            </a:pPr>
            <a:r>
              <a:t>0.213 MB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3688" y="1700784"/>
            <a:ext cx="2542032" cy="1152144"/>
          </a:xfrm>
          <a:prstGeom prst="roundRect">
            <a:avLst/>
          </a:prstGeom>
          <a:solidFill>
            <a:srgbClr val="F8FAFC"/>
          </a:solidFill>
          <a:ln w="1143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70848" y="1892807"/>
            <a:ext cx="2295144" cy="201168"/>
          </a:xfrm>
          <a:prstGeom prst="rect">
            <a:avLst/>
          </a:prstGeom>
          <a:noFill/>
        </p:spPr>
        <p:txBody>
          <a:bodyPr wrap="square" lIns="27432" tIns="18288" rIns="18288" bIns="9144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53647C"/>
                </a:solidFill>
                <a:latin typeface="Manrope"/>
              </a:defRPr>
            </a:pPr>
            <a:r>
              <a:t>LATENCY / SAMPLE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70848" y="2167128"/>
            <a:ext cx="2295144" cy="411480"/>
          </a:xfrm>
          <a:prstGeom prst="rect">
            <a:avLst/>
          </a:prstGeom>
          <a:noFill/>
        </p:spPr>
        <p:txBody>
          <a:bodyPr wrap="square" lIns="27432" tIns="18288" rIns="18288" bIns="9144">
            <a:spAutoFit/>
          </a:bodyPr>
          <a:lstStyle/>
          <a:p>
            <a:pPr>
              <a:spcAft>
                <a:spcPts val="200"/>
              </a:spcAft>
              <a:defRPr sz="2400" b="1">
                <a:solidFill>
                  <a:srgbClr val="0F172A"/>
                </a:solidFill>
                <a:latin typeface="Manrope"/>
              </a:defRPr>
            </a:pPr>
            <a:r>
              <a:t>0.424 ms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035808"/>
            <a:ext cx="6446520" cy="2862072"/>
          </a:xfrm>
          <a:prstGeom prst="roundRect">
            <a:avLst/>
          </a:prstGeom>
          <a:solidFill>
            <a:srgbClr val="F8FAFC"/>
          </a:solidFill>
          <a:ln w="1143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42631" y="3035808"/>
            <a:ext cx="4114800" cy="2862072"/>
          </a:xfrm>
          <a:prstGeom prst="roundRect">
            <a:avLst/>
          </a:prstGeom>
          <a:solidFill>
            <a:srgbClr val="F8FAFC"/>
          </a:solidFill>
          <a:ln w="1143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7552" y="3255264"/>
            <a:ext cx="5486400" cy="256032"/>
          </a:xfrm>
          <a:prstGeom prst="rect">
            <a:avLst/>
          </a:prstGeom>
          <a:noFill/>
        </p:spPr>
        <p:txBody>
          <a:bodyPr wrap="square" lIns="27432" tIns="18288" rIns="18288" bIns="9144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284C7"/>
                </a:solidFill>
                <a:latin typeface="Manrope"/>
              </a:defRPr>
            </a:pPr>
            <a:r>
              <a:t>PER-CLASS F1-SCORE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" y="3630168"/>
            <a:ext cx="1005840" cy="201168"/>
          </a:xfrm>
          <a:prstGeom prst="rect">
            <a:avLst/>
          </a:prstGeom>
          <a:noFill/>
        </p:spPr>
        <p:txBody>
          <a:bodyPr wrap="square" lIns="27432" tIns="18288" rIns="18288" bIns="9144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0F172A"/>
                </a:solidFill>
                <a:latin typeface="Inter"/>
              </a:defRPr>
            </a:pPr>
            <a:r>
              <a:t>BPSK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39112" y="3675888"/>
            <a:ext cx="2851556" cy="11887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0" y="3630168"/>
            <a:ext cx="475488" cy="192024"/>
          </a:xfrm>
          <a:prstGeom prst="rect">
            <a:avLst/>
          </a:prstGeom>
          <a:noFill/>
        </p:spPr>
        <p:txBody>
          <a:bodyPr wrap="square" lIns="27432" tIns="18288" rIns="18288" bIns="9144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0F172A"/>
                </a:solidFill>
                <a:latin typeface="Inter"/>
              </a:defRPr>
            </a:pPr>
            <a:r>
              <a:t>81%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" y="3886200"/>
            <a:ext cx="1005840" cy="201168"/>
          </a:xfrm>
          <a:prstGeom prst="rect">
            <a:avLst/>
          </a:prstGeom>
          <a:noFill/>
        </p:spPr>
        <p:txBody>
          <a:bodyPr wrap="square" lIns="27432" tIns="18288" rIns="18288" bIns="9144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0F172A"/>
                </a:solidFill>
                <a:latin typeface="Inter"/>
              </a:defRPr>
            </a:pPr>
            <a:r>
              <a:t>QPSK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39112" y="3931920"/>
            <a:ext cx="1865833" cy="11887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0" y="3886200"/>
            <a:ext cx="475488" cy="192024"/>
          </a:xfrm>
          <a:prstGeom prst="rect">
            <a:avLst/>
          </a:prstGeom>
          <a:noFill/>
        </p:spPr>
        <p:txBody>
          <a:bodyPr wrap="square" lIns="27432" tIns="18288" rIns="18288" bIns="9144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0F172A"/>
                </a:solidFill>
                <a:latin typeface="Inter"/>
              </a:defRPr>
            </a:pPr>
            <a:r>
              <a:t>53%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" y="4142232"/>
            <a:ext cx="1005840" cy="201168"/>
          </a:xfrm>
          <a:prstGeom prst="rect">
            <a:avLst/>
          </a:prstGeom>
          <a:noFill/>
        </p:spPr>
        <p:txBody>
          <a:bodyPr wrap="square" lIns="27432" tIns="18288" rIns="18288" bIns="9144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0F172A"/>
                </a:solidFill>
                <a:latin typeface="Inter"/>
              </a:defRPr>
            </a:pPr>
            <a:r>
              <a:t>8PSK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39112" y="4187952"/>
            <a:ext cx="1232154" cy="11887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0" y="4142232"/>
            <a:ext cx="475488" cy="192024"/>
          </a:xfrm>
          <a:prstGeom prst="rect">
            <a:avLst/>
          </a:prstGeom>
          <a:noFill/>
        </p:spPr>
        <p:txBody>
          <a:bodyPr wrap="square" lIns="27432" tIns="18288" rIns="18288" bIns="9144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0F172A"/>
                </a:solidFill>
                <a:latin typeface="Inter"/>
              </a:defRPr>
            </a:pPr>
            <a:r>
              <a:t>35%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9264" y="4398264"/>
            <a:ext cx="1005840" cy="201168"/>
          </a:xfrm>
          <a:prstGeom prst="rect">
            <a:avLst/>
          </a:prstGeom>
          <a:noFill/>
        </p:spPr>
        <p:txBody>
          <a:bodyPr wrap="square" lIns="27432" tIns="18288" rIns="18288" bIns="9144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0F172A"/>
                </a:solidFill>
                <a:latin typeface="Inter"/>
              </a:defRPr>
            </a:pPr>
            <a:r>
              <a:t>16QAM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039112" y="4443984"/>
            <a:ext cx="1232154" cy="11887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0" y="4398264"/>
            <a:ext cx="475488" cy="192024"/>
          </a:xfrm>
          <a:prstGeom prst="rect">
            <a:avLst/>
          </a:prstGeom>
          <a:noFill/>
        </p:spPr>
        <p:txBody>
          <a:bodyPr wrap="square" lIns="27432" tIns="18288" rIns="18288" bIns="9144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0F172A"/>
                </a:solidFill>
                <a:latin typeface="Inter"/>
              </a:defRPr>
            </a:pPr>
            <a:r>
              <a:t>35%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9264" y="4654296"/>
            <a:ext cx="1005840" cy="201168"/>
          </a:xfrm>
          <a:prstGeom prst="rect">
            <a:avLst/>
          </a:prstGeom>
          <a:noFill/>
        </p:spPr>
        <p:txBody>
          <a:bodyPr wrap="square" lIns="27432" tIns="18288" rIns="18288" bIns="9144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0F172A"/>
                </a:solidFill>
                <a:latin typeface="Inter"/>
              </a:defRPr>
            </a:pPr>
            <a:r>
              <a:t>256QAM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039112" y="4700016"/>
            <a:ext cx="1161745" cy="11887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43600" y="4654296"/>
            <a:ext cx="475488" cy="192024"/>
          </a:xfrm>
          <a:prstGeom prst="rect">
            <a:avLst/>
          </a:prstGeom>
          <a:noFill/>
        </p:spPr>
        <p:txBody>
          <a:bodyPr wrap="square" lIns="27432" tIns="18288" rIns="18288" bIns="9144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0F172A"/>
                </a:solidFill>
                <a:latin typeface="Inter"/>
              </a:defRPr>
            </a:pPr>
            <a:r>
              <a:t>33%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9264" y="4910328"/>
            <a:ext cx="1005840" cy="201168"/>
          </a:xfrm>
          <a:prstGeom prst="rect">
            <a:avLst/>
          </a:prstGeom>
          <a:noFill/>
        </p:spPr>
        <p:txBody>
          <a:bodyPr wrap="square" lIns="27432" tIns="18288" rIns="18288" bIns="9144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0F172A"/>
                </a:solidFill>
                <a:latin typeface="Inter"/>
              </a:defRPr>
            </a:pPr>
            <a:r>
              <a:t>32PSK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039112" y="4956048"/>
            <a:ext cx="1091336" cy="11887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43600" y="4910328"/>
            <a:ext cx="475488" cy="192024"/>
          </a:xfrm>
          <a:prstGeom prst="rect">
            <a:avLst/>
          </a:prstGeom>
          <a:noFill/>
        </p:spPr>
        <p:txBody>
          <a:bodyPr wrap="square" lIns="27432" tIns="18288" rIns="18288" bIns="9144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0F172A"/>
                </a:solidFill>
                <a:latin typeface="Inter"/>
              </a:defRPr>
            </a:pPr>
            <a:r>
              <a:t>31%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9264" y="5166360"/>
            <a:ext cx="1005840" cy="201168"/>
          </a:xfrm>
          <a:prstGeom prst="rect">
            <a:avLst/>
          </a:prstGeom>
          <a:noFill/>
        </p:spPr>
        <p:txBody>
          <a:bodyPr wrap="square" lIns="27432" tIns="18288" rIns="18288" bIns="9144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0F172A"/>
                </a:solidFill>
                <a:latin typeface="Inter"/>
              </a:defRPr>
            </a:pPr>
            <a:r>
              <a:t>16PSK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039112" y="5212080"/>
            <a:ext cx="492861" cy="11887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943600" y="5166360"/>
            <a:ext cx="475488" cy="192024"/>
          </a:xfrm>
          <a:prstGeom prst="rect">
            <a:avLst/>
          </a:prstGeom>
          <a:noFill/>
        </p:spPr>
        <p:txBody>
          <a:bodyPr wrap="square" lIns="27432" tIns="18288" rIns="18288" bIns="9144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0F172A"/>
                </a:solidFill>
                <a:latin typeface="Inter"/>
              </a:defRPr>
            </a:pPr>
            <a:r>
              <a:t>14%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9264" y="5422392"/>
            <a:ext cx="1005840" cy="201168"/>
          </a:xfrm>
          <a:prstGeom prst="rect">
            <a:avLst/>
          </a:prstGeom>
          <a:noFill/>
        </p:spPr>
        <p:txBody>
          <a:bodyPr wrap="square" lIns="27432" tIns="18288" rIns="18288" bIns="9144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0F172A"/>
                </a:solidFill>
                <a:latin typeface="Inter"/>
              </a:defRPr>
            </a:pPr>
            <a:r>
              <a:t>64QAM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039112" y="5468112"/>
            <a:ext cx="176022" cy="11887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43600" y="5422392"/>
            <a:ext cx="475488" cy="192024"/>
          </a:xfrm>
          <a:prstGeom prst="rect">
            <a:avLst/>
          </a:prstGeom>
          <a:noFill/>
        </p:spPr>
        <p:txBody>
          <a:bodyPr wrap="square" lIns="27432" tIns="18288" rIns="18288" bIns="9144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0F172A"/>
                </a:solidFill>
                <a:latin typeface="Inter"/>
              </a:defRPr>
            </a:pPr>
            <a:r>
              <a:t>5%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16952" y="3264408"/>
            <a:ext cx="3575304" cy="256032"/>
          </a:xfrm>
          <a:prstGeom prst="rect">
            <a:avLst/>
          </a:prstGeom>
          <a:noFill/>
        </p:spPr>
        <p:txBody>
          <a:bodyPr wrap="square" lIns="27432" tIns="18288" rIns="18288" bIns="9144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284C7"/>
                </a:solidFill>
                <a:latin typeface="Manrope"/>
              </a:defRPr>
            </a:pPr>
            <a:r>
              <a:t>DIAGNOSTIC HIGHLIGHTS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26096" y="3666744"/>
            <a:ext cx="3474720" cy="2057400"/>
          </a:xfrm>
          <a:prstGeom prst="rect">
            <a:avLst/>
          </a:prstGeom>
          <a:noFill/>
        </p:spPr>
        <p:txBody>
          <a:bodyPr wrap="square" lIns="27432" tIns="18288" rIns="18288" bIns="9144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0F172A"/>
                </a:solidFill>
                <a:latin typeface="Inter"/>
              </a:defRPr>
            </a:pPr>
            <a:r>
              <a:t>• BPSK recognized most reliably (F1 = 0.81).</a:t>
            </a:r>
          </a:p>
          <a:p>
            <a:pPr>
              <a:spcAft>
                <a:spcPts val="200"/>
              </a:spcAft>
              <a:defRPr sz="1100" b="0">
                <a:solidFill>
                  <a:srgbClr val="0F172A"/>
                </a:solidFill>
                <a:latin typeface="Inter"/>
              </a:defRPr>
            </a:pPr>
          </a:p>
          <a:p>
            <a:pPr>
              <a:spcAft>
                <a:spcPts val="200"/>
              </a:spcAft>
              <a:defRPr sz="1100" b="0">
                <a:solidFill>
                  <a:srgbClr val="0F172A"/>
                </a:solidFill>
                <a:latin typeface="Inter"/>
              </a:defRPr>
            </a:pPr>
            <a:r>
              <a:t>• 64QAM poorly identified (F1 = 0.05).</a:t>
            </a:r>
          </a:p>
          <a:p>
            <a:pPr>
              <a:spcAft>
                <a:spcPts val="200"/>
              </a:spcAft>
              <a:defRPr sz="1100" b="0">
                <a:solidFill>
                  <a:srgbClr val="0F172A"/>
                </a:solidFill>
                <a:latin typeface="Inter"/>
              </a:defRPr>
            </a:pPr>
          </a:p>
          <a:p>
            <a:pPr>
              <a:spcAft>
                <a:spcPts val="200"/>
              </a:spcAft>
              <a:defRPr sz="1100" b="0">
                <a:solidFill>
                  <a:srgbClr val="0F172A"/>
                </a:solidFill>
                <a:latin typeface="Inter"/>
              </a:defRPr>
            </a:pPr>
            <a:r>
              <a:t>• Higher-order QAM/PSK classes remain difficult.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38912"/>
            <a:ext cx="347472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0" rIns="109728" bIns="0" rtlCol="0" anchor="ctr"/>
          <a:lstStyle/>
          <a:p>
            <a:pPr algn="ctr"/>
            <a:r>
              <a:rPr sz="1200" b="1">
                <a:solidFill>
                  <a:srgbClr val="0284C7"/>
                </a:solidFill>
                <a:latin typeface="Manrope"/>
              </a:rPr>
              <a:t>TOPIC 01 • 1D CNN BENCHMARK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0467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Manrope"/>
              </a:rPr>
              <a:t>Noise Robustness | Accuracy vs. SNR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9844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53647C"/>
                </a:solidFill>
                <a:latin typeface="Inter"/>
              </a:rPr>
              <a:t>15 calibrated SNR levels from −10 dB to +18 dB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035040"/>
            <a:ext cx="10728655" cy="9144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6172200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53647C"/>
                </a:solidFill>
                <a:latin typeface="Inter"/>
              </a:rPr>
              <a:t>EE136: Machine Learning for Wireless Communications | Topic 1 • 1D CNN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172200"/>
            <a:ext cx="185897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0F172A"/>
                </a:solidFill>
                <a:latin typeface="Inter"/>
              </a:rPr>
              <a:t>Slide 4 of 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700784"/>
            <a:ext cx="8174736" cy="4187952"/>
          </a:xfrm>
          <a:prstGeom prst="roundRect">
            <a:avLst/>
          </a:prstGeom>
          <a:solidFill>
            <a:srgbClr val="F8FAFC"/>
          </a:solidFill>
          <a:ln w="1143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052560" y="1700784"/>
            <a:ext cx="2404872" cy="4187952"/>
          </a:xfrm>
          <a:prstGeom prst="roundRect">
            <a:avLst/>
          </a:prstGeom>
          <a:solidFill>
            <a:srgbClr val="F8FAFC"/>
          </a:solidFill>
          <a:ln w="1143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n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559" y="1883664"/>
            <a:ext cx="7537512" cy="373075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253728" y="1984248"/>
            <a:ext cx="2048256" cy="256032"/>
          </a:xfrm>
          <a:prstGeom prst="rect">
            <a:avLst/>
          </a:prstGeom>
          <a:noFill/>
        </p:spPr>
        <p:txBody>
          <a:bodyPr wrap="square" lIns="27432" tIns="18288" rIns="18288" bIns="9144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284C7"/>
                </a:solidFill>
                <a:latin typeface="Manrope"/>
              </a:defRPr>
            </a:pPr>
            <a:r>
              <a:t>SNR SNAPSHOTS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90304" y="2478024"/>
            <a:ext cx="1956816" cy="429768"/>
          </a:xfrm>
          <a:prstGeom prst="rect">
            <a:avLst/>
          </a:prstGeom>
          <a:noFill/>
        </p:spPr>
        <p:txBody>
          <a:bodyPr wrap="square" lIns="27432" tIns="18288" rIns="18288" bIns="9144">
            <a:spAutoFit/>
          </a:bodyPr>
          <a:lstStyle/>
          <a:p>
            <a:pPr>
              <a:spcAft>
                <a:spcPts val="200"/>
              </a:spcAft>
              <a:defRPr sz="2200" b="1">
                <a:solidFill>
                  <a:srgbClr val="0F172A"/>
                </a:solidFill>
                <a:latin typeface="Manrope"/>
              </a:defRPr>
            </a:pPr>
            <a:r>
              <a:t>≈14%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08592" y="2953512"/>
            <a:ext cx="1938528" cy="201168"/>
          </a:xfrm>
          <a:prstGeom prst="rect">
            <a:avLst/>
          </a:prstGeom>
          <a:noFill/>
        </p:spPr>
        <p:txBody>
          <a:bodyPr wrap="square" lIns="27432" tIns="18288" rIns="18288" bIns="9144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53647C"/>
                </a:solidFill>
                <a:latin typeface="Inter"/>
              </a:defRPr>
            </a:pPr>
            <a:r>
              <a:t>−10 dB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90304" y="3447288"/>
            <a:ext cx="1956816" cy="429768"/>
          </a:xfrm>
          <a:prstGeom prst="rect">
            <a:avLst/>
          </a:prstGeom>
          <a:noFill/>
        </p:spPr>
        <p:txBody>
          <a:bodyPr wrap="square" lIns="27432" tIns="18288" rIns="18288" bIns="9144">
            <a:spAutoFit/>
          </a:bodyPr>
          <a:lstStyle/>
          <a:p>
            <a:pPr>
              <a:spcAft>
                <a:spcPts val="200"/>
              </a:spcAft>
              <a:defRPr sz="2200" b="1">
                <a:solidFill>
                  <a:srgbClr val="0F172A"/>
                </a:solidFill>
                <a:latin typeface="Manrope"/>
              </a:defRPr>
            </a:pPr>
            <a:r>
              <a:t>53.13%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08592" y="3922776"/>
            <a:ext cx="1938528" cy="201168"/>
          </a:xfrm>
          <a:prstGeom prst="rect">
            <a:avLst/>
          </a:prstGeom>
          <a:noFill/>
        </p:spPr>
        <p:txBody>
          <a:bodyPr wrap="square" lIns="27432" tIns="18288" rIns="18288" bIns="9144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53647C"/>
                </a:solidFill>
                <a:latin typeface="Inter"/>
              </a:defRPr>
            </a:pPr>
            <a:r>
              <a:t>+14 dB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90304" y="4416552"/>
            <a:ext cx="1956816" cy="429768"/>
          </a:xfrm>
          <a:prstGeom prst="rect">
            <a:avLst/>
          </a:prstGeom>
          <a:noFill/>
        </p:spPr>
        <p:txBody>
          <a:bodyPr wrap="square" lIns="27432" tIns="18288" rIns="18288" bIns="9144">
            <a:spAutoFit/>
          </a:bodyPr>
          <a:lstStyle/>
          <a:p>
            <a:pPr>
              <a:spcAft>
                <a:spcPts val="200"/>
              </a:spcAft>
              <a:defRPr sz="2200" b="1">
                <a:solidFill>
                  <a:srgbClr val="0F172A"/>
                </a:solidFill>
                <a:latin typeface="Manrope"/>
              </a:defRPr>
            </a:pPr>
            <a:r>
              <a:t>55.10%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08592" y="4892040"/>
            <a:ext cx="1938528" cy="201168"/>
          </a:xfrm>
          <a:prstGeom prst="rect">
            <a:avLst/>
          </a:prstGeom>
          <a:noFill/>
        </p:spPr>
        <p:txBody>
          <a:bodyPr wrap="square" lIns="27432" tIns="18288" rIns="18288" bIns="9144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53647C"/>
                </a:solidFill>
                <a:latin typeface="Inter"/>
              </a:defRPr>
            </a:pPr>
            <a:r>
              <a:t>+18 dB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38912"/>
            <a:ext cx="347472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0" rIns="109728" bIns="0" rtlCol="0" anchor="ctr"/>
          <a:lstStyle/>
          <a:p>
            <a:pPr algn="ctr"/>
            <a:r>
              <a:rPr sz="1200" b="1">
                <a:solidFill>
                  <a:srgbClr val="0284C7"/>
                </a:solidFill>
                <a:latin typeface="Manrope"/>
              </a:rPr>
              <a:t>TOPIC 01 • 1D CNN BENCHMARK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0467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Manrope"/>
              </a:rPr>
              <a:t>Confusion Matrices &amp; Failure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9844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53647C"/>
                </a:solidFill>
                <a:latin typeface="Inter"/>
              </a:rPr>
              <a:t>Row-normalized at −4 dB, +4 dB, and +14 dB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035040"/>
            <a:ext cx="10728655" cy="9144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6172200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53647C"/>
                </a:solidFill>
                <a:latin typeface="Inter"/>
              </a:rPr>
              <a:t>EE136: Machine Learning for Wireless Communications | Topic 1 • 1D CNN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172200"/>
            <a:ext cx="185897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0F172A"/>
                </a:solidFill>
                <a:latin typeface="Inter"/>
              </a:rPr>
              <a:t>Slide 5 of 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691640"/>
            <a:ext cx="10725912" cy="3822191"/>
          </a:xfrm>
          <a:prstGeom prst="roundRect">
            <a:avLst/>
          </a:prstGeom>
          <a:solidFill>
            <a:srgbClr val="F8FAFC"/>
          </a:solidFill>
          <a:ln w="1143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9683" y="1865376"/>
            <a:ext cx="8518728" cy="3456432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731520" y="5586984"/>
            <a:ext cx="10725912" cy="320040"/>
          </a:xfrm>
          <a:prstGeom prst="roundRect">
            <a:avLst/>
          </a:prstGeom>
          <a:solidFill>
            <a:srgbClr val="EFF6FF"/>
          </a:solidFill>
          <a:ln w="11430">
            <a:solidFill>
              <a:srgbClr val="B5D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632704"/>
            <a:ext cx="10168128" cy="210312"/>
          </a:xfrm>
          <a:prstGeom prst="rect">
            <a:avLst/>
          </a:prstGeom>
          <a:noFill/>
        </p:spPr>
        <p:txBody>
          <a:bodyPr wrap="square" lIns="27432" tIns="18288" rIns="18288" bIns="9144">
            <a:spAutoFit/>
          </a:bodyPr>
          <a:lstStyle/>
          <a:p>
            <a:pPr algn="ctr">
              <a:spcAft>
                <a:spcPts val="200"/>
              </a:spcAft>
              <a:defRPr sz="1050" b="1">
                <a:solidFill>
                  <a:srgbClr val="0F172A"/>
                </a:solidFill>
                <a:latin typeface="Inter"/>
              </a:defRPr>
            </a:pPr>
            <a:r>
              <a:t>Low SNR: widespread confusion  |  High SNR: PSK/QAM ambiguity persists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38912"/>
            <a:ext cx="347472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0" rIns="109728" bIns="0" rtlCol="0" anchor="ctr"/>
          <a:lstStyle/>
          <a:p>
            <a:pPr algn="ctr"/>
            <a:r>
              <a:rPr sz="1200" b="1">
                <a:solidFill>
                  <a:srgbClr val="0284C7"/>
                </a:solidFill>
                <a:latin typeface="Manrope"/>
              </a:rPr>
              <a:t>TOPIC 01 • 1D CNN BENCHMARK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0467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Manrope"/>
              </a:rPr>
              <a:t>Benchmark Handoff | Classical ML vs. MLP vs. 1D CNN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9844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53647C"/>
                </a:solidFill>
                <a:latin typeface="Inter"/>
              </a:rPr>
              <a:t>Model-specific results aligned for the final team comparison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035040"/>
            <a:ext cx="10728655" cy="9144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6172200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53647C"/>
                </a:solidFill>
                <a:latin typeface="Inter"/>
              </a:rPr>
              <a:t>EE136: Machine Learning for Wireless Communications | Topic 1 • 1D CNN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172200"/>
            <a:ext cx="185897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0F172A"/>
                </a:solidFill>
                <a:latin typeface="Inter"/>
              </a:rPr>
              <a:t>Slide 6 of 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755648"/>
            <a:ext cx="2962656" cy="438912"/>
          </a:xfrm>
          <a:prstGeom prst="roundRect">
            <a:avLst/>
          </a:prstGeom>
          <a:solidFill>
            <a:srgbClr val="EFF6FF"/>
          </a:solidFill>
          <a:ln w="11430">
            <a:solidFill>
              <a:srgbClr val="C6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1847088"/>
            <a:ext cx="2807208" cy="201168"/>
          </a:xfrm>
          <a:prstGeom prst="rect">
            <a:avLst/>
          </a:prstGeom>
          <a:noFill/>
        </p:spPr>
        <p:txBody>
          <a:bodyPr wrap="square" lIns="27432" tIns="18288" rIns="18288" bIns="9144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0F172A"/>
                </a:solidFill>
                <a:latin typeface="Manrope"/>
              </a:defRPr>
            </a:pPr>
            <a:r>
              <a:t>METRIC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58768" y="1755648"/>
            <a:ext cx="2377440" cy="438912"/>
          </a:xfrm>
          <a:prstGeom prst="roundRect">
            <a:avLst/>
          </a:prstGeom>
          <a:solidFill>
            <a:srgbClr val="EFF6FF"/>
          </a:solidFill>
          <a:ln w="11430">
            <a:solidFill>
              <a:srgbClr val="C6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31920" y="1847088"/>
            <a:ext cx="2221992" cy="201168"/>
          </a:xfrm>
          <a:prstGeom prst="rect">
            <a:avLst/>
          </a:prstGeom>
          <a:noFill/>
        </p:spPr>
        <p:txBody>
          <a:bodyPr wrap="square" lIns="27432" tIns="18288" rIns="18288" bIns="9144">
            <a:spAutoFit/>
          </a:bodyPr>
          <a:lstStyle/>
          <a:p>
            <a:pPr algn="ctr">
              <a:spcAft>
                <a:spcPts val="200"/>
              </a:spcAft>
              <a:defRPr sz="1000" b="1">
                <a:solidFill>
                  <a:srgbClr val="0F172A"/>
                </a:solidFill>
                <a:latin typeface="Manrope"/>
              </a:defRPr>
            </a:pPr>
            <a:r>
              <a:t>CLASSICAL ML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28232" y="1755648"/>
            <a:ext cx="2386584" cy="438912"/>
          </a:xfrm>
          <a:prstGeom prst="roundRect">
            <a:avLst/>
          </a:prstGeom>
          <a:solidFill>
            <a:srgbClr val="EFF6FF"/>
          </a:solidFill>
          <a:ln w="11430">
            <a:solidFill>
              <a:srgbClr val="C6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1384" y="1847088"/>
            <a:ext cx="2231136" cy="201168"/>
          </a:xfrm>
          <a:prstGeom prst="rect">
            <a:avLst/>
          </a:prstGeom>
          <a:noFill/>
        </p:spPr>
        <p:txBody>
          <a:bodyPr wrap="square" lIns="27432" tIns="18288" rIns="18288" bIns="9144">
            <a:spAutoFit/>
          </a:bodyPr>
          <a:lstStyle/>
          <a:p>
            <a:pPr algn="ctr">
              <a:spcAft>
                <a:spcPts val="200"/>
              </a:spcAft>
              <a:defRPr sz="1000" b="1">
                <a:solidFill>
                  <a:srgbClr val="0F172A"/>
                </a:solidFill>
                <a:latin typeface="Manrope"/>
              </a:defRPr>
            </a:pPr>
            <a:r>
              <a:t>MLP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88552" y="1755648"/>
            <a:ext cx="2468880" cy="438912"/>
          </a:xfrm>
          <a:prstGeom prst="roundRect">
            <a:avLst/>
          </a:prstGeom>
          <a:solidFill>
            <a:srgbClr val="EFF6FF"/>
          </a:solidFill>
          <a:ln w="11430">
            <a:solidFill>
              <a:srgbClr val="C6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61704" y="1847088"/>
            <a:ext cx="2313432" cy="201168"/>
          </a:xfrm>
          <a:prstGeom prst="rect">
            <a:avLst/>
          </a:prstGeom>
          <a:noFill/>
        </p:spPr>
        <p:txBody>
          <a:bodyPr wrap="square" lIns="27432" tIns="18288" rIns="18288" bIns="9144">
            <a:spAutoFit/>
          </a:bodyPr>
          <a:lstStyle/>
          <a:p>
            <a:pPr algn="ctr">
              <a:spcAft>
                <a:spcPts val="200"/>
              </a:spcAft>
              <a:defRPr sz="1000" b="1">
                <a:solidFill>
                  <a:srgbClr val="0F172A"/>
                </a:solidFill>
                <a:latin typeface="Manrope"/>
              </a:defRPr>
            </a:pPr>
            <a:r>
              <a:t>1D CNN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2295144"/>
            <a:ext cx="2962656" cy="393192"/>
          </a:xfrm>
          <a:prstGeom prst="roundRect">
            <a:avLst/>
          </a:prstGeom>
          <a:solidFill>
            <a:srgbClr val="F8FAFC"/>
          </a:solidFill>
          <a:ln w="1143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" y="2382012"/>
            <a:ext cx="2807208" cy="219456"/>
          </a:xfrm>
          <a:prstGeom prst="rect">
            <a:avLst/>
          </a:prstGeom>
          <a:noFill/>
        </p:spPr>
        <p:txBody>
          <a:bodyPr wrap="square" lIns="27432" tIns="18288" rIns="18288" bIns="9144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0F172A"/>
                </a:solidFill>
                <a:latin typeface="Inter"/>
              </a:defRPr>
            </a:pPr>
            <a:r>
              <a:t>Input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58768" y="2295144"/>
            <a:ext cx="2377440" cy="393192"/>
          </a:xfrm>
          <a:prstGeom prst="roundRect">
            <a:avLst/>
          </a:prstGeom>
          <a:solidFill>
            <a:srgbClr val="F8FAFC"/>
          </a:solidFill>
          <a:ln w="1143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41063" y="2382012"/>
            <a:ext cx="2221992" cy="219456"/>
          </a:xfrm>
          <a:prstGeom prst="rect">
            <a:avLst/>
          </a:prstGeom>
          <a:noFill/>
        </p:spPr>
        <p:txBody>
          <a:bodyPr wrap="square" lIns="27432" tIns="18288" rIns="18288" bIns="9144">
            <a:spAutoFit/>
          </a:bodyPr>
          <a:lstStyle/>
          <a:p>
            <a:pPr algn="ctr">
              <a:spcAft>
                <a:spcPts val="200"/>
              </a:spcAft>
              <a:defRPr sz="1000" b="0">
                <a:solidFill>
                  <a:srgbClr val="53647C"/>
                </a:solidFill>
                <a:latin typeface="Inter"/>
              </a:defRPr>
            </a:pPr>
            <a:r>
              <a:t>18 features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28232" y="2295144"/>
            <a:ext cx="2386584" cy="393192"/>
          </a:xfrm>
          <a:prstGeom prst="roundRect">
            <a:avLst/>
          </a:prstGeom>
          <a:solidFill>
            <a:srgbClr val="F8FAFC"/>
          </a:solidFill>
          <a:ln w="1143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0528" y="2382012"/>
            <a:ext cx="2231136" cy="219456"/>
          </a:xfrm>
          <a:prstGeom prst="rect">
            <a:avLst/>
          </a:prstGeom>
          <a:noFill/>
        </p:spPr>
        <p:txBody>
          <a:bodyPr wrap="square" lIns="27432" tIns="18288" rIns="18288" bIns="9144">
            <a:spAutoFit/>
          </a:bodyPr>
          <a:lstStyle/>
          <a:p>
            <a:pPr algn="ctr">
              <a:spcAft>
                <a:spcPts val="200"/>
              </a:spcAft>
              <a:defRPr sz="1000" b="0">
                <a:solidFill>
                  <a:srgbClr val="53647C"/>
                </a:solidFill>
                <a:latin typeface="Inter"/>
              </a:defRPr>
            </a:pPr>
            <a:r>
              <a:t>18 features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88552" y="2295144"/>
            <a:ext cx="2468880" cy="393192"/>
          </a:xfrm>
          <a:prstGeom prst="roundRect">
            <a:avLst/>
          </a:prstGeom>
          <a:solidFill>
            <a:srgbClr val="F8FAFC"/>
          </a:solidFill>
          <a:ln w="1143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70848" y="2382012"/>
            <a:ext cx="2313432" cy="219456"/>
          </a:xfrm>
          <a:prstGeom prst="rect">
            <a:avLst/>
          </a:prstGeom>
          <a:noFill/>
        </p:spPr>
        <p:txBody>
          <a:bodyPr wrap="square" lIns="27432" tIns="18288" rIns="18288" bIns="9144">
            <a:spAutoFit/>
          </a:bodyPr>
          <a:lstStyle/>
          <a:p>
            <a:pPr algn="ctr">
              <a:spcAft>
                <a:spcPts val="200"/>
              </a:spcAft>
              <a:defRPr sz="1000" b="1">
                <a:solidFill>
                  <a:srgbClr val="0F172A"/>
                </a:solidFill>
                <a:latin typeface="Inter"/>
              </a:defRPr>
            </a:pPr>
            <a:r>
              <a:t>Raw I/Q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2752344"/>
            <a:ext cx="2962656" cy="39319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3816" y="2839212"/>
            <a:ext cx="2807208" cy="219456"/>
          </a:xfrm>
          <a:prstGeom prst="rect">
            <a:avLst/>
          </a:prstGeom>
          <a:noFill/>
        </p:spPr>
        <p:txBody>
          <a:bodyPr wrap="square" lIns="27432" tIns="18288" rIns="18288" bIns="9144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0F172A"/>
                </a:solidFill>
                <a:latin typeface="Inter"/>
              </a:defRPr>
            </a:pPr>
            <a:r>
              <a:t>Test accuracy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858768" y="2752344"/>
            <a:ext cx="2377440" cy="39319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41063" y="2839212"/>
            <a:ext cx="2221992" cy="219456"/>
          </a:xfrm>
          <a:prstGeom prst="rect">
            <a:avLst/>
          </a:prstGeom>
          <a:noFill/>
        </p:spPr>
        <p:txBody>
          <a:bodyPr wrap="square" lIns="27432" tIns="18288" rIns="18288" bIns="9144">
            <a:spAutoFit/>
          </a:bodyPr>
          <a:lstStyle/>
          <a:p>
            <a:pPr algn="ctr">
              <a:spcAft>
                <a:spcPts val="200"/>
              </a:spcAft>
              <a:defRPr sz="1000" b="0">
                <a:solidFill>
                  <a:srgbClr val="53647C"/>
                </a:solidFill>
                <a:latin typeface="Inter"/>
              </a:defRPr>
            </a:pPr>
            <a:r>
              <a:t>Pending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28232" y="2752344"/>
            <a:ext cx="2386584" cy="39319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10528" y="2839212"/>
            <a:ext cx="2231136" cy="219456"/>
          </a:xfrm>
          <a:prstGeom prst="rect">
            <a:avLst/>
          </a:prstGeom>
          <a:noFill/>
        </p:spPr>
        <p:txBody>
          <a:bodyPr wrap="square" lIns="27432" tIns="18288" rIns="18288" bIns="9144">
            <a:spAutoFit/>
          </a:bodyPr>
          <a:lstStyle/>
          <a:p>
            <a:pPr algn="ctr">
              <a:spcAft>
                <a:spcPts val="200"/>
              </a:spcAft>
              <a:defRPr sz="1000" b="0">
                <a:solidFill>
                  <a:srgbClr val="53647C"/>
                </a:solidFill>
                <a:latin typeface="Inter"/>
              </a:defRPr>
            </a:pPr>
            <a:r>
              <a:t>Pending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88552" y="2752344"/>
            <a:ext cx="2468880" cy="39319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70848" y="2839212"/>
            <a:ext cx="2313432" cy="219456"/>
          </a:xfrm>
          <a:prstGeom prst="rect">
            <a:avLst/>
          </a:prstGeom>
          <a:noFill/>
        </p:spPr>
        <p:txBody>
          <a:bodyPr wrap="square" lIns="27432" tIns="18288" rIns="18288" bIns="9144">
            <a:spAutoFit/>
          </a:bodyPr>
          <a:lstStyle/>
          <a:p>
            <a:pPr algn="ctr">
              <a:spcAft>
                <a:spcPts val="200"/>
              </a:spcAft>
              <a:defRPr sz="1000" b="1">
                <a:solidFill>
                  <a:srgbClr val="0F172A"/>
                </a:solidFill>
                <a:latin typeface="Inter"/>
              </a:defRPr>
            </a:pPr>
            <a:r>
              <a:t>39.22%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3209544"/>
            <a:ext cx="2962656" cy="393192"/>
          </a:xfrm>
          <a:prstGeom prst="roundRect">
            <a:avLst/>
          </a:prstGeom>
          <a:solidFill>
            <a:srgbClr val="F8FAFC"/>
          </a:solidFill>
          <a:ln w="1143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3816" y="3296412"/>
            <a:ext cx="2807208" cy="219456"/>
          </a:xfrm>
          <a:prstGeom prst="rect">
            <a:avLst/>
          </a:prstGeom>
          <a:noFill/>
        </p:spPr>
        <p:txBody>
          <a:bodyPr wrap="square" lIns="27432" tIns="18288" rIns="18288" bIns="9144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0F172A"/>
                </a:solidFill>
                <a:latin typeface="Inter"/>
              </a:defRPr>
            </a:pPr>
            <a:r>
              <a:t>Macro-F1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858768" y="3209544"/>
            <a:ext cx="2377440" cy="393192"/>
          </a:xfrm>
          <a:prstGeom prst="roundRect">
            <a:avLst/>
          </a:prstGeom>
          <a:solidFill>
            <a:srgbClr val="F8FAFC"/>
          </a:solidFill>
          <a:ln w="1143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941063" y="3296412"/>
            <a:ext cx="2221992" cy="219456"/>
          </a:xfrm>
          <a:prstGeom prst="rect">
            <a:avLst/>
          </a:prstGeom>
          <a:noFill/>
        </p:spPr>
        <p:txBody>
          <a:bodyPr wrap="square" lIns="27432" tIns="18288" rIns="18288" bIns="9144">
            <a:spAutoFit/>
          </a:bodyPr>
          <a:lstStyle/>
          <a:p>
            <a:pPr algn="ctr">
              <a:spcAft>
                <a:spcPts val="200"/>
              </a:spcAft>
              <a:defRPr sz="1000" b="0">
                <a:solidFill>
                  <a:srgbClr val="53647C"/>
                </a:solidFill>
                <a:latin typeface="Inter"/>
              </a:defRPr>
            </a:pPr>
            <a:r>
              <a:t>Pending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28232" y="3209544"/>
            <a:ext cx="2386584" cy="393192"/>
          </a:xfrm>
          <a:prstGeom prst="roundRect">
            <a:avLst/>
          </a:prstGeom>
          <a:solidFill>
            <a:srgbClr val="F8FAFC"/>
          </a:solidFill>
          <a:ln w="1143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10528" y="3296412"/>
            <a:ext cx="2231136" cy="219456"/>
          </a:xfrm>
          <a:prstGeom prst="rect">
            <a:avLst/>
          </a:prstGeom>
          <a:noFill/>
        </p:spPr>
        <p:txBody>
          <a:bodyPr wrap="square" lIns="27432" tIns="18288" rIns="18288" bIns="9144">
            <a:spAutoFit/>
          </a:bodyPr>
          <a:lstStyle/>
          <a:p>
            <a:pPr algn="ctr">
              <a:spcAft>
                <a:spcPts val="200"/>
              </a:spcAft>
              <a:defRPr sz="1000" b="0">
                <a:solidFill>
                  <a:srgbClr val="53647C"/>
                </a:solidFill>
                <a:latin typeface="Inter"/>
              </a:defRPr>
            </a:pPr>
            <a:r>
              <a:t>Pending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88552" y="3209544"/>
            <a:ext cx="2468880" cy="393192"/>
          </a:xfrm>
          <a:prstGeom prst="roundRect">
            <a:avLst/>
          </a:prstGeom>
          <a:solidFill>
            <a:srgbClr val="F8FAFC"/>
          </a:solidFill>
          <a:ln w="1143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70848" y="3296412"/>
            <a:ext cx="2313432" cy="219456"/>
          </a:xfrm>
          <a:prstGeom prst="rect">
            <a:avLst/>
          </a:prstGeom>
          <a:noFill/>
        </p:spPr>
        <p:txBody>
          <a:bodyPr wrap="square" lIns="27432" tIns="18288" rIns="18288" bIns="9144">
            <a:spAutoFit/>
          </a:bodyPr>
          <a:lstStyle/>
          <a:p>
            <a:pPr algn="ctr">
              <a:spcAft>
                <a:spcPts val="200"/>
              </a:spcAft>
              <a:defRPr sz="1000" b="1">
                <a:solidFill>
                  <a:srgbClr val="0F172A"/>
                </a:solidFill>
                <a:latin typeface="Inter"/>
              </a:defRPr>
            </a:pPr>
            <a:r>
              <a:t>35.97%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1520" y="3666744"/>
            <a:ext cx="2962656" cy="39319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3816" y="3753611"/>
            <a:ext cx="2807208" cy="219456"/>
          </a:xfrm>
          <a:prstGeom prst="rect">
            <a:avLst/>
          </a:prstGeom>
          <a:noFill/>
        </p:spPr>
        <p:txBody>
          <a:bodyPr wrap="square" lIns="27432" tIns="18288" rIns="18288" bIns="9144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0F172A"/>
                </a:solidFill>
                <a:latin typeface="Inter"/>
              </a:defRPr>
            </a:pPr>
            <a:r>
              <a:t>Training time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858768" y="3666744"/>
            <a:ext cx="2377440" cy="39319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941063" y="3753611"/>
            <a:ext cx="2221992" cy="219456"/>
          </a:xfrm>
          <a:prstGeom prst="rect">
            <a:avLst/>
          </a:prstGeom>
          <a:noFill/>
        </p:spPr>
        <p:txBody>
          <a:bodyPr wrap="square" lIns="27432" tIns="18288" rIns="18288" bIns="9144">
            <a:spAutoFit/>
          </a:bodyPr>
          <a:lstStyle/>
          <a:p>
            <a:pPr algn="ctr">
              <a:spcAft>
                <a:spcPts val="200"/>
              </a:spcAft>
              <a:defRPr sz="1000" b="0">
                <a:solidFill>
                  <a:srgbClr val="53647C"/>
                </a:solidFill>
                <a:latin typeface="Inter"/>
              </a:defRPr>
            </a:pPr>
            <a:r>
              <a:t>Pending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28232" y="3666744"/>
            <a:ext cx="2386584" cy="39319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10528" y="3753611"/>
            <a:ext cx="2231136" cy="219456"/>
          </a:xfrm>
          <a:prstGeom prst="rect">
            <a:avLst/>
          </a:prstGeom>
          <a:noFill/>
        </p:spPr>
        <p:txBody>
          <a:bodyPr wrap="square" lIns="27432" tIns="18288" rIns="18288" bIns="9144">
            <a:spAutoFit/>
          </a:bodyPr>
          <a:lstStyle/>
          <a:p>
            <a:pPr algn="ctr">
              <a:spcAft>
                <a:spcPts val="200"/>
              </a:spcAft>
              <a:defRPr sz="1000" b="0">
                <a:solidFill>
                  <a:srgbClr val="53647C"/>
                </a:solidFill>
                <a:latin typeface="Inter"/>
              </a:defRPr>
            </a:pPr>
            <a:r>
              <a:t>Pending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988552" y="3666744"/>
            <a:ext cx="2468880" cy="39319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070848" y="3753611"/>
            <a:ext cx="2313432" cy="219456"/>
          </a:xfrm>
          <a:prstGeom prst="rect">
            <a:avLst/>
          </a:prstGeom>
          <a:noFill/>
        </p:spPr>
        <p:txBody>
          <a:bodyPr wrap="square" lIns="27432" tIns="18288" rIns="18288" bIns="9144">
            <a:spAutoFit/>
          </a:bodyPr>
          <a:lstStyle/>
          <a:p>
            <a:pPr algn="ctr">
              <a:spcAft>
                <a:spcPts val="200"/>
              </a:spcAft>
              <a:defRPr sz="1000" b="1">
                <a:solidFill>
                  <a:srgbClr val="0F172A"/>
                </a:solidFill>
                <a:latin typeface="Inter"/>
              </a:defRPr>
            </a:pPr>
            <a:r>
              <a:t>Verify total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31520" y="4123944"/>
            <a:ext cx="2962656" cy="393192"/>
          </a:xfrm>
          <a:prstGeom prst="roundRect">
            <a:avLst/>
          </a:prstGeom>
          <a:solidFill>
            <a:srgbClr val="F8FAFC"/>
          </a:solidFill>
          <a:ln w="1143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13816" y="4210812"/>
            <a:ext cx="2807208" cy="219456"/>
          </a:xfrm>
          <a:prstGeom prst="rect">
            <a:avLst/>
          </a:prstGeom>
          <a:noFill/>
        </p:spPr>
        <p:txBody>
          <a:bodyPr wrap="square" lIns="27432" tIns="18288" rIns="18288" bIns="9144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0F172A"/>
                </a:solidFill>
                <a:latin typeface="Inter"/>
              </a:defRPr>
            </a:pPr>
            <a:r>
              <a:t>Parameter count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858768" y="4123944"/>
            <a:ext cx="2377440" cy="393192"/>
          </a:xfrm>
          <a:prstGeom prst="roundRect">
            <a:avLst/>
          </a:prstGeom>
          <a:solidFill>
            <a:srgbClr val="F8FAFC"/>
          </a:solidFill>
          <a:ln w="1143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941063" y="4210812"/>
            <a:ext cx="2221992" cy="219456"/>
          </a:xfrm>
          <a:prstGeom prst="rect">
            <a:avLst/>
          </a:prstGeom>
          <a:noFill/>
        </p:spPr>
        <p:txBody>
          <a:bodyPr wrap="square" lIns="27432" tIns="18288" rIns="18288" bIns="9144">
            <a:spAutoFit/>
          </a:bodyPr>
          <a:lstStyle/>
          <a:p>
            <a:pPr algn="ctr">
              <a:spcAft>
                <a:spcPts val="200"/>
              </a:spcAft>
              <a:defRPr sz="1000" b="0">
                <a:solidFill>
                  <a:srgbClr val="53647C"/>
                </a:solidFill>
                <a:latin typeface="Inter"/>
              </a:defRPr>
            </a:pPr>
            <a:r>
              <a:t>Model-specific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428232" y="4123944"/>
            <a:ext cx="2386584" cy="393192"/>
          </a:xfrm>
          <a:prstGeom prst="roundRect">
            <a:avLst/>
          </a:prstGeom>
          <a:solidFill>
            <a:srgbClr val="F8FAFC"/>
          </a:solidFill>
          <a:ln w="1143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510528" y="4210812"/>
            <a:ext cx="2231136" cy="219456"/>
          </a:xfrm>
          <a:prstGeom prst="rect">
            <a:avLst/>
          </a:prstGeom>
          <a:noFill/>
        </p:spPr>
        <p:txBody>
          <a:bodyPr wrap="square" lIns="27432" tIns="18288" rIns="18288" bIns="9144">
            <a:spAutoFit/>
          </a:bodyPr>
          <a:lstStyle/>
          <a:p>
            <a:pPr algn="ctr">
              <a:spcAft>
                <a:spcPts val="200"/>
              </a:spcAft>
              <a:defRPr sz="1000" b="0">
                <a:solidFill>
                  <a:srgbClr val="53647C"/>
                </a:solidFill>
                <a:latin typeface="Inter"/>
              </a:defRPr>
            </a:pPr>
            <a:r>
              <a:t>Pending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988552" y="4123944"/>
            <a:ext cx="2468880" cy="393192"/>
          </a:xfrm>
          <a:prstGeom prst="roundRect">
            <a:avLst/>
          </a:prstGeom>
          <a:solidFill>
            <a:srgbClr val="F8FAFC"/>
          </a:solidFill>
          <a:ln w="1143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070848" y="4210812"/>
            <a:ext cx="2313432" cy="219456"/>
          </a:xfrm>
          <a:prstGeom prst="rect">
            <a:avLst/>
          </a:prstGeom>
          <a:noFill/>
        </p:spPr>
        <p:txBody>
          <a:bodyPr wrap="square" lIns="27432" tIns="18288" rIns="18288" bIns="9144">
            <a:spAutoFit/>
          </a:bodyPr>
          <a:lstStyle/>
          <a:p>
            <a:pPr algn="ctr">
              <a:spcAft>
                <a:spcPts val="200"/>
              </a:spcAft>
              <a:defRPr sz="1000" b="1">
                <a:solidFill>
                  <a:srgbClr val="0F172A"/>
                </a:solidFill>
                <a:latin typeface="Inter"/>
              </a:defRPr>
            </a:pPr>
            <a:r>
              <a:t>53,224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31520" y="4581144"/>
            <a:ext cx="2962656" cy="39319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13816" y="4668012"/>
            <a:ext cx="2807208" cy="219456"/>
          </a:xfrm>
          <a:prstGeom prst="rect">
            <a:avLst/>
          </a:prstGeom>
          <a:noFill/>
        </p:spPr>
        <p:txBody>
          <a:bodyPr wrap="square" lIns="27432" tIns="18288" rIns="18288" bIns="9144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0F172A"/>
                </a:solidFill>
                <a:latin typeface="Inter"/>
              </a:defRPr>
            </a:pPr>
            <a:r>
              <a:t>File size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858768" y="4581144"/>
            <a:ext cx="2377440" cy="39319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941063" y="4668012"/>
            <a:ext cx="2221992" cy="219456"/>
          </a:xfrm>
          <a:prstGeom prst="rect">
            <a:avLst/>
          </a:prstGeom>
          <a:noFill/>
        </p:spPr>
        <p:txBody>
          <a:bodyPr wrap="square" lIns="27432" tIns="18288" rIns="18288" bIns="9144">
            <a:spAutoFit/>
          </a:bodyPr>
          <a:lstStyle/>
          <a:p>
            <a:pPr algn="ctr">
              <a:spcAft>
                <a:spcPts val="200"/>
              </a:spcAft>
              <a:defRPr sz="1000" b="0">
                <a:solidFill>
                  <a:srgbClr val="53647C"/>
                </a:solidFill>
                <a:latin typeface="Inter"/>
              </a:defRPr>
            </a:pPr>
            <a:r>
              <a:t>Pending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428232" y="4581144"/>
            <a:ext cx="2386584" cy="39319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510528" y="4668012"/>
            <a:ext cx="2231136" cy="219456"/>
          </a:xfrm>
          <a:prstGeom prst="rect">
            <a:avLst/>
          </a:prstGeom>
          <a:noFill/>
        </p:spPr>
        <p:txBody>
          <a:bodyPr wrap="square" lIns="27432" tIns="18288" rIns="18288" bIns="9144">
            <a:spAutoFit/>
          </a:bodyPr>
          <a:lstStyle/>
          <a:p>
            <a:pPr algn="ctr">
              <a:spcAft>
                <a:spcPts val="200"/>
              </a:spcAft>
              <a:defRPr sz="1000" b="0">
                <a:solidFill>
                  <a:srgbClr val="53647C"/>
                </a:solidFill>
                <a:latin typeface="Inter"/>
              </a:defRPr>
            </a:pPr>
            <a:r>
              <a:t>Pending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988552" y="4581144"/>
            <a:ext cx="2468880" cy="39319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070848" y="4668012"/>
            <a:ext cx="2313432" cy="219456"/>
          </a:xfrm>
          <a:prstGeom prst="rect">
            <a:avLst/>
          </a:prstGeom>
          <a:noFill/>
        </p:spPr>
        <p:txBody>
          <a:bodyPr wrap="square" lIns="27432" tIns="18288" rIns="18288" bIns="9144">
            <a:spAutoFit/>
          </a:bodyPr>
          <a:lstStyle/>
          <a:p>
            <a:pPr algn="ctr">
              <a:spcAft>
                <a:spcPts val="200"/>
              </a:spcAft>
              <a:defRPr sz="1000" b="1">
                <a:solidFill>
                  <a:srgbClr val="0F172A"/>
                </a:solidFill>
                <a:latin typeface="Inter"/>
              </a:defRPr>
            </a:pPr>
            <a:r>
              <a:t>0.213 MB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31520" y="5038344"/>
            <a:ext cx="2962656" cy="393192"/>
          </a:xfrm>
          <a:prstGeom prst="roundRect">
            <a:avLst/>
          </a:prstGeom>
          <a:solidFill>
            <a:srgbClr val="F8FAFC"/>
          </a:solidFill>
          <a:ln w="1143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13816" y="5125212"/>
            <a:ext cx="2807208" cy="219456"/>
          </a:xfrm>
          <a:prstGeom prst="rect">
            <a:avLst/>
          </a:prstGeom>
          <a:noFill/>
        </p:spPr>
        <p:txBody>
          <a:bodyPr wrap="square" lIns="27432" tIns="18288" rIns="18288" bIns="9144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0F172A"/>
                </a:solidFill>
                <a:latin typeface="Inter"/>
              </a:defRPr>
            </a:pPr>
            <a:r>
              <a:t>Latency / sample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858768" y="5038344"/>
            <a:ext cx="2377440" cy="393192"/>
          </a:xfrm>
          <a:prstGeom prst="roundRect">
            <a:avLst/>
          </a:prstGeom>
          <a:solidFill>
            <a:srgbClr val="F8FAFC"/>
          </a:solidFill>
          <a:ln w="1143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941063" y="5125212"/>
            <a:ext cx="2221992" cy="219456"/>
          </a:xfrm>
          <a:prstGeom prst="rect">
            <a:avLst/>
          </a:prstGeom>
          <a:noFill/>
        </p:spPr>
        <p:txBody>
          <a:bodyPr wrap="square" lIns="27432" tIns="18288" rIns="18288" bIns="9144">
            <a:spAutoFit/>
          </a:bodyPr>
          <a:lstStyle/>
          <a:p>
            <a:pPr algn="ctr">
              <a:spcAft>
                <a:spcPts val="200"/>
              </a:spcAft>
              <a:defRPr sz="1000" b="0">
                <a:solidFill>
                  <a:srgbClr val="53647C"/>
                </a:solidFill>
                <a:latin typeface="Inter"/>
              </a:defRPr>
            </a:pPr>
            <a:r>
              <a:t>Pending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428232" y="5038344"/>
            <a:ext cx="2386584" cy="393192"/>
          </a:xfrm>
          <a:prstGeom prst="roundRect">
            <a:avLst/>
          </a:prstGeom>
          <a:solidFill>
            <a:srgbClr val="F8FAFC"/>
          </a:solidFill>
          <a:ln w="1143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510528" y="5125212"/>
            <a:ext cx="2231136" cy="219456"/>
          </a:xfrm>
          <a:prstGeom prst="rect">
            <a:avLst/>
          </a:prstGeom>
          <a:noFill/>
        </p:spPr>
        <p:txBody>
          <a:bodyPr wrap="square" lIns="27432" tIns="18288" rIns="18288" bIns="9144">
            <a:spAutoFit/>
          </a:bodyPr>
          <a:lstStyle/>
          <a:p>
            <a:pPr algn="ctr">
              <a:spcAft>
                <a:spcPts val="200"/>
              </a:spcAft>
              <a:defRPr sz="1000" b="0">
                <a:solidFill>
                  <a:srgbClr val="53647C"/>
                </a:solidFill>
                <a:latin typeface="Inter"/>
              </a:defRPr>
            </a:pPr>
            <a:r>
              <a:t>Pending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988552" y="5038344"/>
            <a:ext cx="2468880" cy="393192"/>
          </a:xfrm>
          <a:prstGeom prst="roundRect">
            <a:avLst/>
          </a:prstGeom>
          <a:solidFill>
            <a:srgbClr val="F8FAFC"/>
          </a:solidFill>
          <a:ln w="1143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070848" y="5125212"/>
            <a:ext cx="2313432" cy="219456"/>
          </a:xfrm>
          <a:prstGeom prst="rect">
            <a:avLst/>
          </a:prstGeom>
          <a:noFill/>
        </p:spPr>
        <p:txBody>
          <a:bodyPr wrap="square" lIns="27432" tIns="18288" rIns="18288" bIns="9144">
            <a:spAutoFit/>
          </a:bodyPr>
          <a:lstStyle/>
          <a:p>
            <a:pPr algn="ctr">
              <a:spcAft>
                <a:spcPts val="200"/>
              </a:spcAft>
              <a:defRPr sz="1000" b="1">
                <a:solidFill>
                  <a:srgbClr val="0F172A"/>
                </a:solidFill>
                <a:latin typeface="Inter"/>
              </a:defRPr>
            </a:pPr>
            <a:r>
              <a:t>0.424 ms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731520" y="5623560"/>
            <a:ext cx="10725912" cy="292608"/>
          </a:xfrm>
          <a:prstGeom prst="roundRect">
            <a:avLst/>
          </a:prstGeom>
          <a:solidFill>
            <a:srgbClr val="EFF6FF"/>
          </a:solidFill>
          <a:ln w="11430">
            <a:solidFill>
              <a:srgbClr val="B5D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14400" y="5660136"/>
            <a:ext cx="10323576" cy="219456"/>
          </a:xfrm>
          <a:prstGeom prst="rect">
            <a:avLst/>
          </a:prstGeom>
          <a:noFill/>
        </p:spPr>
        <p:txBody>
          <a:bodyPr wrap="square" lIns="27432" tIns="18288" rIns="18288" bIns="9144">
            <a:spAutoFit/>
          </a:bodyPr>
          <a:lstStyle/>
          <a:p>
            <a:pPr algn="ctr">
              <a:spcAft>
                <a:spcPts val="200"/>
              </a:spcAft>
              <a:defRPr sz="1000" b="1">
                <a:solidFill>
                  <a:srgbClr val="0F172A"/>
                </a:solidFill>
                <a:latin typeface="Inter"/>
              </a:defRPr>
            </a:pPr>
            <a:r>
              <a:t>Overlay all three Accuracy–SNR curves using identical test splits and measurement settings.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8936</Words>
  <Application>Microsoft Macintosh PowerPoint</Application>
  <PresentationFormat>Widescreen</PresentationFormat>
  <Paragraphs>829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Inter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Huynh Vo Trung Dung</cp:lastModifiedBy>
  <cp:revision>1</cp:revision>
  <dcterms:created xsi:type="dcterms:W3CDTF">2013-01-27T09:14:16Z</dcterms:created>
  <dcterms:modified xsi:type="dcterms:W3CDTF">2026-09-09T15:15:44Z</dcterms:modified>
  <cp:category/>
</cp:coreProperties>
</file>