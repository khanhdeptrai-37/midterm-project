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731520"/>
            <a:ext cx="10725912" cy="53949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1097280"/>
            <a:ext cx="9601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284C7"/>
                </a:solidFill>
                <a:latin typeface="Manrope"/>
              </a:defRPr>
            </a:pPr>
            <a:r>
              <a:t>EE136 • MACHINE LEARNING FOR WIRELESS COMMUNICATIONS</a:t>
            </a:r>
          </a:p>
          <a:p>
            <a:pPr>
              <a:spcAft>
                <a:spcPts val="600"/>
              </a:spcAft>
              <a:defRPr sz="2800" b="1">
                <a:solidFill>
                  <a:srgbClr val="FFFFFF"/>
                </a:solidFill>
                <a:latin typeface="Manrope"/>
              </a:defRPr>
            </a:pPr>
            <a:r>
              <a:t>Topic 1: Comprehensive Model Benchmark</a:t>
            </a:r>
          </a:p>
          <a:p>
            <a:pPr>
              <a:spcAft>
                <a:spcPts val="1400"/>
              </a:spcAft>
              <a:defRPr sz="1800" b="1">
                <a:solidFill>
                  <a:srgbClr val="38BDF8"/>
                </a:solidFill>
                <a:latin typeface="Manrope"/>
              </a:defRPr>
            </a:pPr>
            <a:r>
              <a:t>Classical ML vs. 3-Layer MLP vs. 1D CNN Across 8 Digital Modulation Schemes</a:t>
            </a:r>
          </a:p>
          <a:p>
            <a:pPr>
              <a:spcAft>
                <a:spcPts val="2200"/>
              </a:spcAft>
              <a:defRPr sz="1300">
                <a:solidFill>
                  <a:srgbClr val="94A3B8"/>
                </a:solidFill>
                <a:latin typeface="Inter"/>
              </a:defRPr>
            </a:pPr>
            <a:r>
              <a:t>Capstone Mini-Project Deliverable: Architectural Specification, Experimental Benchmarking &amp; Edge Deployment Trade-offs</a:t>
            </a:r>
          </a:p>
          <a:p>
            <a:pPr>
              <a:spcAft>
                <a:spcPts val="300"/>
              </a:spcAft>
            </a:pPr>
            <a:r>
              <a:rPr b="1" sz="1050">
                <a:solidFill>
                  <a:srgbClr val="0284C7"/>
                </a:solidFill>
              </a:rPr>
              <a:t>• DATASET ARCHITECTURE: </a:t>
            </a:r>
            <a:r>
              <a:rPr b="0" sz="1050">
                <a:solidFill>
                  <a:srgbClr val="CBD5E1"/>
                </a:solidFill>
              </a:rPr>
              <a:t>96,000 Bursts (Train 70% [67.2k] / Val 15% [14.4k] / Test 15% [14.4k])</a:t>
            </a:r>
          </a:p>
          <a:p>
            <a:pPr>
              <a:spcAft>
                <a:spcPts val="300"/>
              </a:spcAft>
            </a:pPr>
            <a:r>
              <a:rPr b="1" sz="1050">
                <a:solidFill>
                  <a:srgbClr val="0284C7"/>
                </a:solidFill>
              </a:rPr>
              <a:t>• EVALUATION GRID: </a:t>
            </a:r>
            <a:r>
              <a:rPr b="0" sz="1050">
                <a:solidFill>
                  <a:srgbClr val="CBD5E1"/>
                </a:solidFill>
              </a:rPr>
              <a:t>15 Calibrated SNR Operating Points (-10 dB to +18 dB, 2 dB step)</a:t>
            </a:r>
          </a:p>
          <a:p>
            <a:pPr>
              <a:spcAft>
                <a:spcPts val="300"/>
              </a:spcAft>
            </a:pPr>
            <a:r>
              <a:rPr b="1" sz="1050">
                <a:solidFill>
                  <a:srgbClr val="0284C7"/>
                </a:solidFill>
              </a:rPr>
              <a:t>• RADIO CHANNELS: </a:t>
            </a:r>
            <a:r>
              <a:rPr b="0" sz="1050">
                <a:solidFill>
                  <a:srgbClr val="CBD5E1"/>
                </a:solidFill>
              </a:rPr>
              <a:t>AWGN (Thermal Noise) &amp; Rayleigh 3-Tap (Multipath Fading &amp; Phase Rotation)</a:t>
            </a:r>
          </a:p>
          <a:p>
            <a:pPr>
              <a:spcAft>
                <a:spcPts val="300"/>
              </a:spcAft>
            </a:pPr>
            <a:r>
              <a:rPr b="1" sz="1050">
                <a:solidFill>
                  <a:srgbClr val="0284C7"/>
                </a:solidFill>
              </a:rPr>
              <a:t>• THREE MODEL TIERS: </a:t>
            </a:r>
            <a:r>
              <a:rPr b="0" sz="1050">
                <a:solidFill>
                  <a:srgbClr val="CBD5E1"/>
                </a:solidFill>
              </a:rPr>
              <a:t>Tier 1: Random Forest (Features) | Tier 2: 3-Layer MLP (Features) | Tier 3: 1D CNN (Raw I/Q)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9260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Manrope"/>
              </a:defRPr>
            </a:pPr>
            <a:r>
              <a:t>PART I • BASEBAND WIRELESS PHYSICS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Manrope"/>
              </a:defRPr>
            </a:pPr>
            <a:r>
              <a:t>Baseband Physics: AMC Problem &amp; Constellation Clouds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263640"/>
            <a:ext cx="10725912" cy="9144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Inter"/>
              </a:defRPr>
            </a:pPr>
            <a:r>
              <a:t>EE136: Machine Learning for Wireless Communications | Topic 1: Comprehensive Model Benchmark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355080"/>
            <a:ext cx="1856231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Manrope"/>
              </a:defRPr>
            </a:pPr>
            <a:r>
              <a:t>Slide 2 of 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34440"/>
            <a:ext cx="3383280" cy="4800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371600"/>
            <a:ext cx="310896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2563EB"/>
                </a:solidFill>
                <a:latin typeface="Manrope"/>
              </a:defRPr>
            </a:pPr>
            <a:r>
              <a:t>Physical Layer Problem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0284C7"/>
                </a:solidFill>
              </a:rPr>
              <a:t>Core Task: </a:t>
            </a:r>
            <a:r>
              <a:rPr sz="1050">
                <a:solidFill>
                  <a:srgbClr val="0F172A"/>
                </a:solidFill>
              </a:rPr>
              <a:t>Blindly classify modulation scheme from a single short burst of L=128 complex baseband samples r[n] = I[n] + jQ[n].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0284C7"/>
                </a:solidFill>
              </a:rPr>
              <a:t>8 Modulation Classes: </a:t>
            </a:r>
            <a:r>
              <a:rPr sz="1050">
                <a:solidFill>
                  <a:srgbClr val="0F172A"/>
                </a:solidFill>
              </a:rPr>
              <a:t>5 Phase Shift Keying: BPSK, QPSK, 8PSK, 16PSK, 32PSK.
3 Quadrature Amplitude: 16QAM, 64QAM, 256QAM.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0284C7"/>
                </a:solidFill>
              </a:rPr>
              <a:t>Wireless Impairments: </a:t>
            </a:r>
            <a:r>
              <a:rPr sz="1050">
                <a:solidFill>
                  <a:srgbClr val="0F172A"/>
                </a:solidFill>
              </a:rPr>
              <a:t>AWGN thermal noise + Rayleigh 3-tap multipath fading causing severe constellation distortion, phase rotation e^(jθ), and cluster scattering.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0284C7"/>
                </a:solidFill>
              </a:rPr>
              <a:t>Low SNR Challenge: </a:t>
            </a:r>
            <a:r>
              <a:rPr sz="1050">
                <a:solidFill>
                  <a:srgbClr val="0F172A"/>
                </a:solidFill>
              </a:rPr>
              <a:t>At SNR &lt;= -4 dB, constellation clouds overlap completely; signal power is submerged in Gaussian noise.</a:t>
            </a:r>
          </a:p>
        </p:txBody>
      </p:sp>
      <p:pic>
        <p:nvPicPr>
          <p:cNvPr id="9" name="Picture 8" descr="mlp_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234440"/>
            <a:ext cx="7159752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9260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Manrope"/>
              </a:defRPr>
            </a:pPr>
            <a:r>
              <a:t>PART I • DOMAIN FEATURE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Manrope"/>
              </a:defRPr>
            </a:pPr>
            <a:r>
              <a:t>Feature Distillation: Raw I/Q to 18 Invariant Domain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263640"/>
            <a:ext cx="10725912" cy="9144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Inter"/>
              </a:defRPr>
            </a:pPr>
            <a:r>
              <a:t>EE136: Machine Learning for Wireless Communications | Topic 1: Comprehensive Model Benchmark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355080"/>
            <a:ext cx="1856231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Manrope"/>
              </a:defRPr>
            </a:pPr>
            <a:r>
              <a:t>Slide 3 of 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34440"/>
            <a:ext cx="3337560" cy="4800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371600"/>
            <a:ext cx="306324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2563EB"/>
                </a:solidFill>
                <a:latin typeface="Manrope"/>
              </a:defRPr>
            </a:pPr>
            <a:r>
              <a:t>Why Compress Raw I/Q?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284C7"/>
                </a:solidFill>
              </a:rPr>
              <a:t>Input Dimension: </a:t>
            </a:r>
            <a:r>
              <a:rPr sz="1100">
                <a:solidFill>
                  <a:srgbClr val="0F172A"/>
                </a:solidFill>
              </a:rPr>
              <a:t>128 complex samples [2, 128] = 256 real dimensions. High variance under random phase rotation.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284C7"/>
                </a:solidFill>
              </a:rPr>
              <a:t>14x Dimension Reduction: </a:t>
            </a:r>
            <a:r>
              <a:rPr sz="1100">
                <a:solidFill>
                  <a:srgbClr val="0F172A"/>
                </a:solidFill>
              </a:rPr>
              <a:t>Distills 256 sample points down to 18 physically motivated statistical invariants.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284C7"/>
                </a:solidFill>
              </a:rPr>
              <a:t>Zero Data Leakage: </a:t>
            </a:r>
            <a:r>
              <a:rPr sz="1100">
                <a:solidFill>
                  <a:srgbClr val="0F172A"/>
                </a:solidFill>
              </a:rPr>
              <a:t>StandardScaler parameters (mean μ, std σ) computed solely on 67,200 Train instances. Never exposed to Test split.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234440"/>
            <a:ext cx="3977639" cy="4800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1371600"/>
            <a:ext cx="370332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284C7"/>
                </a:solidFill>
                <a:latin typeface="Manrope"/>
              </a:defRPr>
            </a:pPr>
            <a:r>
              <a:t>18 Physical Feature Taxonomy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284C7"/>
                </a:solidFill>
              </a:rPr>
              <a:t>Higher-Order Cumulants (9): </a:t>
            </a:r>
            <a:r>
              <a:rPr sz="1100">
                <a:solidFill>
                  <a:srgbClr val="0F172A"/>
                </a:solidFill>
              </a:rPr>
              <a:t>C20, C21, C40, C41, C42, C60, C61, C62, C63. Blind to Gaussian noise; isolates constellation rotational symmetries.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284C7"/>
                </a:solidFill>
              </a:rPr>
              <a:t>Envelope &amp; PAPR (2): </a:t>
            </a:r>
            <a:r>
              <a:rPr sz="1100">
                <a:solidFill>
                  <a:srgbClr val="0F172A"/>
                </a:solidFill>
              </a:rPr>
              <a:t>sigma_aa (amplitude std dev) and PAPR (Peak-to-Average Power Ratio). Separates constant-envelope PSK from multi-amplitude QAM.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284C7"/>
                </a:solidFill>
              </a:rPr>
              <a:t>Welch PSD &amp; Phase Stats (7): </a:t>
            </a:r>
            <a:r>
              <a:rPr sz="1100">
                <a:solidFill>
                  <a:srgbClr val="0F172A"/>
                </a:solidFill>
              </a:rPr>
              <a:t>gamma_max, Kurt_psd, Skew_psd, H_psd, H_phase, sigma_ap, sigma_dp measure spectral concentration and angular spread.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1234440"/>
            <a:ext cx="3044952" cy="4800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49640" y="1371600"/>
            <a:ext cx="2770632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0B981"/>
                </a:solidFill>
                <a:latin typeface="Manrope"/>
              </a:defRPr>
            </a:pPr>
            <a:r>
              <a:t>Invariance Properties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284C7"/>
                </a:solidFill>
              </a:rPr>
              <a:t>Power Normalization: </a:t>
            </a:r>
            <a:r>
              <a:rPr sz="1100">
                <a:solidFill>
                  <a:srgbClr val="0F172A"/>
                </a:solidFill>
              </a:rPr>
              <a:t>RMS scaling r_norm = r / E_rms ensures classification depends on constellation geometry, not power.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284C7"/>
                </a:solidFill>
              </a:rPr>
              <a:t>Phase Offset Elimination: </a:t>
            </a:r>
            <a:r>
              <a:rPr sz="1100">
                <a:solidFill>
                  <a:srgbClr val="0F172A"/>
                </a:solidFill>
              </a:rPr>
              <a:t>Cumulant magnitudes |C_pq| eliminate channel phase rotations e^(jθ) introduced by fading channels.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284C7"/>
                </a:solidFill>
              </a:rPr>
              <a:t>Feature Wall (~48.25%): </a:t>
            </a:r>
            <a:r>
              <a:rPr sz="1100">
                <a:solidFill>
                  <a:srgbClr val="0F172A"/>
                </a:solidFill>
              </a:rPr>
              <a:t>Cumulants up to order 6 share identical theoretical values for M&gt;=8 PSK. Sets mathematical limit for feature-based models.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9260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Manrope"/>
              </a:defRPr>
            </a:pPr>
            <a:r>
              <a:t>PART I • FEATURE SPACE GEOMETRY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Manrope"/>
              </a:defRPr>
            </a:pPr>
            <a:r>
              <a:t>Geometric Separability: Cumulants &amp; Spectral Signatures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263640"/>
            <a:ext cx="10725912" cy="9144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Inter"/>
              </a:defRPr>
            </a:pPr>
            <a:r>
              <a:t>EE136: Machine Learning for Wireless Communications | Topic 1: Comprehensive Model Benchmark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355080"/>
            <a:ext cx="1856231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Manrope"/>
              </a:defRPr>
            </a:pPr>
            <a:r>
              <a:t>Slide 4 of 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34440"/>
            <a:ext cx="3383280" cy="4800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371600"/>
            <a:ext cx="310896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284C7"/>
                </a:solidFill>
                <a:latin typeface="Manrope"/>
              </a:defRPr>
            </a:pPr>
            <a:r>
              <a:t>Cumulant Space Geometry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0284C7"/>
                </a:solidFill>
              </a:rPr>
              <a:t>Low-Order PSK Separation: </a:t>
            </a:r>
            <a:r>
              <a:rPr sz="1050">
                <a:solidFill>
                  <a:srgbClr val="0F172A"/>
                </a:solidFill>
              </a:rPr>
              <a:t>BPSK (|C40|=2.0) and QPSK (|C40|=1.0) isolate cleanly in C40 space even at moderate noise levels.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0284C7"/>
                </a:solidFill>
              </a:rPr>
              <a:t>Higher-Order PSK Collapse: </a:t>
            </a:r>
            <a:r>
              <a:rPr sz="1050">
                <a:solidFill>
                  <a:srgbClr val="0F172A"/>
                </a:solidFill>
              </a:rPr>
              <a:t>8PSK, 16PSK, and 32PSK all collapse to |C40| = 0.0 and |C42| = 1.0! Indistinguishable in cumulant space.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0284C7"/>
                </a:solidFill>
              </a:rPr>
              <a:t>QAM Lattice Traps: </a:t>
            </a:r>
            <a:r>
              <a:rPr sz="1050">
                <a:solidFill>
                  <a:srgbClr val="0F172A"/>
                </a:solidFill>
              </a:rPr>
              <a:t>16QAM (|C40|=0.68) vs 64QAM (|C40|=0.62) vs 256QAM (|C40|=0.61). Differences are narrower than sample estimation noise variance at L=128!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0284C7"/>
                </a:solidFill>
              </a:rPr>
              <a:t>Spectral Signatures: </a:t>
            </a:r>
            <a:r>
              <a:rPr sz="1050">
                <a:solidFill>
                  <a:srgbClr val="0F172A"/>
                </a:solidFill>
              </a:rPr>
              <a:t>gamma_max and Welch PSD kurtosis provide secondary separation between constant envelope and multi-ring schemes.</a:t>
            </a:r>
          </a:p>
        </p:txBody>
      </p:sp>
      <p:pic>
        <p:nvPicPr>
          <p:cNvPr id="9" name="Picture 8" descr="mlp_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234440"/>
            <a:ext cx="7159752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9260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Manrope"/>
              </a:defRPr>
            </a:pPr>
            <a:r>
              <a:t>PART II • TIER 1: CLASSICAL MACHINE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Manrope"/>
              </a:defRPr>
            </a:pPr>
            <a:r>
              <a:t>Tier 1 Architecture: Random Forest (Bagging) vs. SVM (RBF Kernel)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263640"/>
            <a:ext cx="10725912" cy="9144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Inter"/>
              </a:defRPr>
            </a:pPr>
            <a:r>
              <a:t>EE136: Machine Learning for Wireless Communications | Topic 1: Comprehensive Model Benchmark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355080"/>
            <a:ext cx="1856231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Manrope"/>
              </a:defRPr>
            </a:pPr>
            <a:r>
              <a:t>Slide 5 of 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34440"/>
            <a:ext cx="5166360" cy="4800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371600"/>
            <a:ext cx="489204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0B981"/>
                </a:solidFill>
                <a:latin typeface="Manrope"/>
              </a:defRPr>
            </a:pPr>
            <a:r>
              <a:t>Tier 1A: Random Forest Classifier (200 Trees)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0284C7"/>
                </a:solidFill>
              </a:rPr>
              <a:t>Ensemble Strategy: </a:t>
            </a:r>
            <a:r>
              <a:rPr sz="1050">
                <a:solidFill>
                  <a:srgbClr val="0F172A"/>
                </a:solidFill>
              </a:rPr>
              <a:t>200 unpruned decision trees trained via bootstrap aggregation (bagging) on 67,200 training instances.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0284C7"/>
                </a:solidFill>
              </a:rPr>
              <a:t>Splitting Criterion: </a:t>
            </a:r>
            <a:r>
              <a:rPr sz="1050">
                <a:solidFill>
                  <a:srgbClr val="0F172A"/>
                </a:solidFill>
              </a:rPr>
              <a:t>Gini Impurity, evaluating sqrt(18) ≈ 4 random features at each split node to minimize tree correlation.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0284C7"/>
                </a:solidFill>
              </a:rPr>
              <a:t>Parameter Explosion: </a:t>
            </a:r>
            <a:r>
              <a:rPr sz="1050">
                <a:solidFill>
                  <a:srgbClr val="0F172A"/>
                </a:solidFill>
              </a:rPr>
              <a:t>Deep unconstrained trees expand to 140,572,728 total decision parameters across the ensemble!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0284C7"/>
                </a:solidFill>
              </a:rPr>
              <a:t>Model Checkpoint: </a:t>
            </a:r>
            <a:r>
              <a:rPr sz="1050">
                <a:solidFill>
                  <a:srgbClr val="0F172A"/>
                </a:solidFill>
              </a:rPr>
              <a:t>999.7 MB file size on disk (~1 GB). Requires substantial RAM to store decision paths.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0284C7"/>
                </a:solidFill>
              </a:rPr>
              <a:t>Training Time: </a:t>
            </a:r>
            <a:r>
              <a:rPr sz="1050">
                <a:solidFill>
                  <a:srgbClr val="0F172A"/>
                </a:solidFill>
              </a:rPr>
              <a:t>Fast parallel training (n_jobs=-1) completes in 121.03 s (~2.0 min) on standard CPU.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0284C7"/>
                </a:solidFill>
              </a:rPr>
              <a:t>Inference Speed: </a:t>
            </a:r>
            <a:r>
              <a:rPr sz="1050">
                <a:solidFill>
                  <a:srgbClr val="0F172A"/>
                </a:solidFill>
              </a:rPr>
              <a:t>Fast execution: ~280 µs single-burst, 177 µs batched. Easily satisfies 5G frame budget (1.0 ms).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91072" y="1234440"/>
            <a:ext cx="5166360" cy="4800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28232" y="1371600"/>
            <a:ext cx="489204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2563EB"/>
                </a:solidFill>
                <a:latin typeface="Manrope"/>
              </a:defRPr>
            </a:pPr>
            <a:r>
              <a:t>Tier 1B: Support Vector Machine (RBF Kernel)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0284C7"/>
                </a:solidFill>
              </a:rPr>
              <a:t>Mathematical Formulation: </a:t>
            </a:r>
            <a:r>
              <a:rPr sz="1050">
                <a:solidFill>
                  <a:srgbClr val="0F172A"/>
                </a:solidFill>
              </a:rPr>
              <a:t>Dual QP optimization finding maximum-margin hyperplanes in reproducing kernel Hilbert space.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0284C7"/>
                </a:solidFill>
              </a:rPr>
              <a:t>Kernel &amp; Regularization: </a:t>
            </a:r>
            <a:r>
              <a:rPr sz="1050">
                <a:solidFill>
                  <a:srgbClr val="0F172A"/>
                </a:solidFill>
              </a:rPr>
              <a:t>RBF Kernel: K(x, x') = exp(-gamma * ||x-x'||^2), C=10, gamma='scale' = 1/(18 * Var(X)).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0284C7"/>
                </a:solidFill>
              </a:rPr>
              <a:t>Support Vector Count: </a:t>
            </a:r>
            <a:r>
              <a:rPr sz="1050">
                <a:solidFill>
                  <a:srgbClr val="0F172A"/>
                </a:solidFill>
              </a:rPr>
              <a:t>1,035,568 support vector coefficients (57,531 support vectors across 8 classes * 18 features).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0284C7"/>
                </a:solidFill>
              </a:rPr>
              <a:t>Model Checkpoint: </a:t>
            </a:r>
            <a:r>
              <a:rPr sz="1050">
                <a:solidFill>
                  <a:srgbClr val="0F172A"/>
                </a:solidFill>
              </a:rPr>
              <a:t>14.96 MB on disk. 66x more compact than Random Forest on disk.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0284C7"/>
                </a:solidFill>
              </a:rPr>
              <a:t>Training Bottleneck: </a:t>
            </a:r>
            <a:r>
              <a:rPr sz="1050">
                <a:solidFill>
                  <a:srgbClr val="0F172A"/>
                </a:solidFill>
              </a:rPr>
              <a:t>Quadratic O(N^2) optimization requires 1,788.23 s (~29.8 min CPU) — 15x slower than Random Forest!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0284C7"/>
                </a:solidFill>
              </a:rPr>
              <a:t>Latency Violation: </a:t>
            </a:r>
            <a:r>
              <a:rPr sz="1050">
                <a:solidFill>
                  <a:srgbClr val="0F172A"/>
                </a:solidFill>
              </a:rPr>
              <a:t>Inference requires evaluating 57k kernel dot products per burst -&gt; ~9,700 µs (9.7 ms). Fails 5G 1ms deadline!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9260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Manrope"/>
              </a:defRPr>
            </a:pPr>
            <a:r>
              <a:t>PART II • TIER 1: CLASSICAL MACHINE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Manrope"/>
              </a:defRPr>
            </a:pPr>
            <a:r>
              <a:t>Classical ML System Profiling: Compute, Memory &amp; Latency Dilemma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263640"/>
            <a:ext cx="10725912" cy="9144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Inter"/>
              </a:defRPr>
            </a:pPr>
            <a:r>
              <a:t>EE136: Machine Learning for Wireless Communications | Topic 1: Comprehensive Model Benchmark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355080"/>
            <a:ext cx="1856231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Manrope"/>
              </a:defRPr>
            </a:pPr>
            <a:r>
              <a:t>Slide 6 of 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34440"/>
            <a:ext cx="10725912" cy="2468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914400" y="1371600"/>
          <a:ext cx="10351008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993392"/>
                <a:gridCol w="1993392"/>
                <a:gridCol w="1993392"/>
                <a:gridCol w="1993392"/>
              </a:tblGrid>
              <a:tr h="429768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anrope"/>
                        </a:defRPr>
                      </a:pPr>
                      <a:r>
                        <a:t>Metric / Specification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anrope"/>
                        </a:defRPr>
                      </a:pPr>
                      <a:r>
                        <a:t>Random Forest (RF)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anrope"/>
                        </a:defRPr>
                      </a:pPr>
                      <a:r>
                        <a:t>SVM (RBF Kernel)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anrope"/>
                        </a:defRPr>
                      </a:pPr>
                      <a:r>
                        <a:t>Comparison (RF vs. SVM)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anrope"/>
                        </a:defRPr>
                      </a:pPr>
                      <a:r>
                        <a:t>Engineering Impact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Training Duration (CPU)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121.03 s (~2.0 min)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1,788.23 s (~29.8 min)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284C7"/>
                          </a:solidFill>
                          <a:latin typeface="Inter"/>
                        </a:defRPr>
                      </a:pPr>
                      <a:r>
                        <a:t>SVM is 14.8x slower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0B981"/>
                          </a:solidFill>
                          <a:latin typeface="Inter"/>
                        </a:defRPr>
                      </a:pPr>
                      <a:r>
                        <a:t>RF enables rapid retraining on SDR nodes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Trainable Parameters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140,572,728 tree nodes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1,035,568 SV weights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284C7"/>
                          </a:solidFill>
                          <a:latin typeface="Inter"/>
                        </a:defRPr>
                      </a:pPr>
                      <a:r>
                        <a:t>RF has 135x more params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0B981"/>
                          </a:solidFill>
                          <a:latin typeface="Inter"/>
                        </a:defRPr>
                      </a:pPr>
                      <a:r>
                        <a:t>RF suffers severe parameter explosion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Checkpoint File Size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999.7 MB (0.98 GB)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14.96 MB (0.015 GB)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284C7"/>
                          </a:solidFill>
                          <a:latin typeface="Inter"/>
                        </a:defRPr>
                      </a:pPr>
                      <a:r>
                        <a:t>RF is 66x larger on disk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0B981"/>
                          </a:solidFill>
                          <a:latin typeface="Inter"/>
                        </a:defRPr>
                      </a:pPr>
                      <a:r>
                        <a:t>SVM fits on flash; RF requires large DRAM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Single-Burst Latency (B=1)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~280 µs (0.28 ms)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~9,700 µs (9.70 ms)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284C7"/>
                          </a:solidFill>
                          <a:latin typeface="Inter"/>
                        </a:defRPr>
                      </a:pPr>
                      <a:r>
                        <a:t>RF is 35x faster in infer.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D97706"/>
                          </a:solidFill>
                          <a:latin typeface="Inter"/>
                        </a:defRPr>
                      </a:pPr>
                      <a:r>
                        <a:t>RF satisfies 5G 1ms budget; SVM FAILS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31520" y="3886200"/>
            <a:ext cx="5166360" cy="21488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977639"/>
            <a:ext cx="48920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 b="1">
                <a:solidFill>
                  <a:srgbClr val="D97706"/>
                </a:solidFill>
                <a:latin typeface="Manrope"/>
              </a:defRPr>
            </a:pPr>
            <a:r>
              <a:t>Why We Drop SVM &amp; Keep Random Forest in Production</a:t>
            </a:r>
          </a:p>
          <a:p>
            <a:pPr>
              <a:spcAft>
                <a:spcPts val="200"/>
              </a:spcAft>
            </a:pPr>
            <a:r>
              <a:rPr b="1" sz="1050">
                <a:solidFill>
                  <a:srgbClr val="0284C7"/>
                </a:solidFill>
              </a:rPr>
              <a:t>Latency Violation: </a:t>
            </a:r>
            <a:r>
              <a:rPr sz="1050">
                <a:solidFill>
                  <a:srgbClr val="0F172A"/>
                </a:solidFill>
              </a:rPr>
              <a:t>SVM latency (~9.7 ms) exceeds the 3GPP 5G NR TTI frame budget (1.0 ms) by 9.7x! Unusable for real-time SDR baseband.</a:t>
            </a:r>
          </a:p>
          <a:p>
            <a:pPr>
              <a:spcAft>
                <a:spcPts val="200"/>
              </a:spcAft>
            </a:pPr>
            <a:r>
              <a:rPr b="1" sz="1050">
                <a:solidFill>
                  <a:srgbClr val="0284C7"/>
                </a:solidFill>
              </a:rPr>
              <a:t>Support Vector Drag: </a:t>
            </a:r>
            <a:r>
              <a:rPr sz="1050">
                <a:solidFill>
                  <a:srgbClr val="0F172A"/>
                </a:solidFill>
              </a:rPr>
              <a:t>Evaluating 57,531 dual coefficients per burst creates severe computation bottlenecks without accuracy gain (SVM 33.8% vs RF 33.8%).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91072" y="3886200"/>
            <a:ext cx="5166360" cy="21488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3977639"/>
            <a:ext cx="48920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 b="1">
                <a:solidFill>
                  <a:srgbClr val="10B981"/>
                </a:solidFill>
                <a:latin typeface="Manrope"/>
              </a:defRPr>
            </a:pPr>
            <a:r>
              <a:t>Random Forest: High Memory, But Fast Decision Speed</a:t>
            </a:r>
          </a:p>
          <a:p>
            <a:pPr>
              <a:spcAft>
                <a:spcPts val="200"/>
              </a:spcAft>
            </a:pPr>
            <a:r>
              <a:rPr b="1" sz="1050">
                <a:solidFill>
                  <a:srgbClr val="0284C7"/>
                </a:solidFill>
              </a:rPr>
              <a:t>Instant Logic Trees: </a:t>
            </a:r>
            <a:r>
              <a:rPr sz="1050">
                <a:solidFill>
                  <a:srgbClr val="0F172A"/>
                </a:solidFill>
              </a:rPr>
              <a:t>RF executes sequential threshold comparisons: if C40 &lt;= -1.45 goto Left else goto Right. No matrix inversions!</a:t>
            </a:r>
          </a:p>
          <a:p>
            <a:pPr>
              <a:spcAft>
                <a:spcPts val="200"/>
              </a:spcAft>
            </a:pPr>
            <a:r>
              <a:rPr b="1" sz="1050">
                <a:solidFill>
                  <a:srgbClr val="0284C7"/>
                </a:solidFill>
              </a:rPr>
              <a:t>Live Dashboard Integration: </a:t>
            </a:r>
            <a:r>
              <a:rPr sz="1050">
                <a:solidFill>
                  <a:srgbClr val="0F172A"/>
                </a:solidFill>
              </a:rPr>
              <a:t>At ~280 µs latency, RF responds instantaneously on user clicks in the live demo deliverable.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9260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Manrope"/>
              </a:defRPr>
            </a:pPr>
            <a:r>
              <a:t>PART II • TIER 1: CLASSICAL MACHINE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Manrope"/>
              </a:defRPr>
            </a:pPr>
            <a:r>
              <a:t>Classical ML Performance: Accuracy &amp; Macro-F1 Across 15 Calibrated SNRs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263640"/>
            <a:ext cx="10725912" cy="9144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Inter"/>
              </a:defRPr>
            </a:pPr>
            <a:r>
              <a:t>EE136: Machine Learning for Wireless Communications | Topic 1: Comprehensive Model Benchmark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355080"/>
            <a:ext cx="1856231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Manrope"/>
              </a:defRPr>
            </a:pPr>
            <a:r>
              <a:t>Slide 7 of 20</a:t>
            </a:r>
          </a:p>
        </p:txBody>
      </p:sp>
      <p:pic>
        <p:nvPicPr>
          <p:cNvPr id="7" name="Picture 6" descr="ml_metrics_sn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6858000" cy="48006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772400" y="1234440"/>
            <a:ext cx="3685032" cy="4800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09560" y="1371600"/>
            <a:ext cx="3410712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284C7"/>
                </a:solidFill>
                <a:latin typeface="Manrope"/>
              </a:defRPr>
            </a:pPr>
            <a:r>
              <a:t>SNR Regime Breakdown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284C7"/>
                </a:solidFill>
              </a:rPr>
              <a:t>Low SNR (-10 to -2 dB): </a:t>
            </a:r>
            <a:r>
              <a:rPr sz="1100">
                <a:solidFill>
                  <a:srgbClr val="0F172A"/>
                </a:solidFill>
              </a:rPr>
              <a:t>Acc: 14.9% -&gt; 26.5%. Dominated by AWGN noise floor. High noise variances heavily perturb high-order cumulants.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284C7"/>
                </a:solidFill>
              </a:rPr>
              <a:t>Steep Transition (0 to +6 dB): </a:t>
            </a:r>
            <a:r>
              <a:rPr sz="1100">
                <a:solidFill>
                  <a:srgbClr val="0F172A"/>
                </a:solidFill>
              </a:rPr>
              <a:t>Acc jumps from 27.6% to 40.4%. BPSK and QPSK emerge with high precision. Signal power overcomes noise floor.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284C7"/>
                </a:solidFill>
              </a:rPr>
              <a:t>High-SNR Ceiling (+8 to +18 dB): </a:t>
            </a:r>
            <a:r>
              <a:rPr sz="1100">
                <a:solidFill>
                  <a:srgbClr val="0F172A"/>
                </a:solidFill>
              </a:rPr>
              <a:t>Acc flattens near 48-51% (RF: 50.10%, SVM: 51.35%). Intra-group ambiguity between higher PSK and QAM sets a mathematical wall.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284C7"/>
                </a:solidFill>
              </a:rPr>
              <a:t>Macro-F1 Alignment: </a:t>
            </a:r>
            <a:r>
              <a:rPr sz="1100">
                <a:solidFill>
                  <a:srgbClr val="0F172A"/>
                </a:solidFill>
              </a:rPr>
              <a:t>Macro-F1 tracks Accuracy within 0.5% across all 15 SNRs, confirming zero class bias on balanced test splits.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9260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Manrope"/>
              </a:defRPr>
            </a:pPr>
            <a:r>
              <a:t>PART II • TIER 1: CLASSICAL MACHINE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Manrope"/>
              </a:defRPr>
            </a:pPr>
            <a:r>
              <a:t>Classical ML Error Diagnostics: Confusion Matrices &amp; Feature Ranking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263640"/>
            <a:ext cx="10725912" cy="9144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Inter"/>
              </a:defRPr>
            </a:pPr>
            <a:r>
              <a:t>EE136: Machine Learning for Wireless Communications | Topic 1: Comprehensive Model Benchmark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355080"/>
            <a:ext cx="1856231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Manrope"/>
              </a:defRPr>
            </a:pPr>
            <a:r>
              <a:t>Slide 8 of 20</a:t>
            </a:r>
          </a:p>
        </p:txBody>
      </p:sp>
      <p:pic>
        <p:nvPicPr>
          <p:cNvPr id="7" name="Picture 6" descr="ml_confusion_matr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7406640" cy="48006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321040" y="1234440"/>
            <a:ext cx="3136392" cy="4800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58200" y="1371600"/>
            <a:ext cx="2862072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2563EB"/>
                </a:solidFill>
                <a:latin typeface="Manrope"/>
              </a:defRPr>
            </a:pPr>
            <a:r>
              <a:t>Key Diagnostic Findings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284C7"/>
                </a:solidFill>
              </a:rPr>
              <a:t>Low SNR (-4 dB | ~22%): </a:t>
            </a:r>
            <a:r>
              <a:rPr sz="1000">
                <a:solidFill>
                  <a:srgbClr val="0F172A"/>
                </a:solidFill>
              </a:rPr>
              <a:t>Severe off-diagonal noise scattering. Cumulant estimations fail; models guess almost uniformly across modulation families.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284C7"/>
                </a:solidFill>
              </a:rPr>
              <a:t>Mid SNR (+4 dB | ~35%): </a:t>
            </a:r>
            <a:r>
              <a:rPr sz="1000">
                <a:solidFill>
                  <a:srgbClr val="0F172A"/>
                </a:solidFill>
              </a:rPr>
              <a:t>BPSK is recognized almost perfectly (~98%) via C40=-2.0. QPSK separates cleanly (~57%). Higher-order PSK/QAM remain heavily blurred.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284C7"/>
                </a:solidFill>
              </a:rPr>
              <a:t>High SNR (+14 dB | ~47%): </a:t>
            </a:r>
            <a:r>
              <a:rPr sz="1000">
                <a:solidFill>
                  <a:srgbClr val="0F172A"/>
                </a:solidFill>
              </a:rPr>
              <a:t>Mathematical ceiling: 8PSK, 16PSK, and 32PSK cluster together at |C40|=0. Similarly, 16QAM, 64QAM, and 256QAM confuse each other.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284C7"/>
                </a:solidFill>
              </a:rPr>
              <a:t>Top Gini Features: </a:t>
            </a:r>
            <a:r>
              <a:rPr sz="1000">
                <a:solidFill>
                  <a:srgbClr val="0F172A"/>
                </a:solidFill>
              </a:rPr>
              <a:t>1. C40 (BPSK/QPSK divider)
2. C42 (energy variance)
3. PAPR (PSK vs QAM)
4. sigma_aa (envelope std)
5. H_phase (phase entropy)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9260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Manrope"/>
              </a:defRPr>
            </a:pPr>
            <a:r>
              <a:t>PART III • TIER 2: NEURAL NETWORK (3-LAYER MLP)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Manrope"/>
              </a:defRPr>
            </a:pPr>
            <a:r>
              <a:t>Model Architecture: 3-Layer Fully-Connected MLP Specification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263640"/>
            <a:ext cx="10725912" cy="9144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Inter"/>
              </a:defRPr>
            </a:pPr>
            <a:r>
              <a:t>EE136: Machine Learning for Wireless Communications | Topic 1: Comprehensive Model Benchmark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355080"/>
            <a:ext cx="1856231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Manrope"/>
              </a:defRPr>
            </a:pPr>
            <a:r>
              <a:t>Slide 9 of 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34440"/>
            <a:ext cx="2496312" cy="3749039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371600"/>
            <a:ext cx="222199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3B82F6"/>
                </a:solidFill>
                <a:latin typeface="Manrope"/>
              </a:defRPr>
            </a:pPr>
            <a:r>
              <a:t>Input Layer</a:t>
            </a:r>
          </a:p>
          <a:p>
            <a:pPr>
              <a:spcAft>
                <a:spcPts val="1000"/>
              </a:spcAft>
              <a:defRPr sz="1100" b="1">
                <a:solidFill>
                  <a:srgbClr val="0F172A"/>
                </a:solidFill>
                <a:latin typeface="Inter"/>
              </a:defRPr>
            </a:pPr>
            <a:r>
              <a:t>18 Features</a:t>
            </a:r>
          </a:p>
          <a:p>
            <a:pPr>
              <a:spcAft>
                <a:spcPts val="300"/>
              </a:spcAft>
              <a:defRPr sz="1050">
                <a:solidFill>
                  <a:srgbClr val="334155"/>
                </a:solidFill>
                <a:latin typeface="Inter"/>
              </a:defRPr>
            </a:pPr>
            <a:r>
              <a:t>StandardScaler</a:t>
            </a:r>
          </a:p>
          <a:p>
            <a:pPr>
              <a:spcAft>
                <a:spcPts val="300"/>
              </a:spcAft>
              <a:defRPr sz="1050">
                <a:solidFill>
                  <a:srgbClr val="334155"/>
                </a:solidFill>
                <a:latin typeface="Inter"/>
              </a:defRPr>
            </a:pPr>
            <a:r>
              <a:t>mu=0, sigma=1</a:t>
            </a:r>
          </a:p>
          <a:p>
            <a:pPr>
              <a:spcAft>
                <a:spcPts val="300"/>
              </a:spcAft>
              <a:defRPr sz="1050">
                <a:solidFill>
                  <a:srgbClr val="334155"/>
                </a:solidFill>
                <a:latin typeface="Inter"/>
              </a:defRPr>
            </a:pPr>
            <a:r>
              <a:t>18 Scaled Values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234440"/>
            <a:ext cx="2496312" cy="3749039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80" y="1371600"/>
            <a:ext cx="222199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284C7"/>
                </a:solidFill>
                <a:latin typeface="Manrope"/>
              </a:defRPr>
            </a:pPr>
            <a:r>
              <a:t>Hidden Layer 1</a:t>
            </a:r>
          </a:p>
          <a:p>
            <a:pPr>
              <a:spcAft>
                <a:spcPts val="1000"/>
              </a:spcAft>
              <a:defRPr sz="1100" b="1">
                <a:solidFill>
                  <a:srgbClr val="0F172A"/>
                </a:solidFill>
                <a:latin typeface="Inter"/>
              </a:defRPr>
            </a:pPr>
            <a:r>
              <a:t>128 Neurons</a:t>
            </a:r>
          </a:p>
          <a:p>
            <a:pPr>
              <a:spcAft>
                <a:spcPts val="300"/>
              </a:spcAft>
              <a:defRPr sz="1050">
                <a:solidFill>
                  <a:srgbClr val="334155"/>
                </a:solidFill>
                <a:latin typeface="Inter"/>
              </a:defRPr>
            </a:pPr>
            <a:r>
              <a:t>Linear(18 -&gt; 128)</a:t>
            </a:r>
          </a:p>
          <a:p>
            <a:pPr>
              <a:spcAft>
                <a:spcPts val="300"/>
              </a:spcAft>
              <a:defRPr sz="1050">
                <a:solidFill>
                  <a:srgbClr val="334155"/>
                </a:solidFill>
                <a:latin typeface="Inter"/>
              </a:defRPr>
            </a:pPr>
            <a:r>
              <a:t>BatchNorm1d</a:t>
            </a:r>
          </a:p>
          <a:p>
            <a:pPr>
              <a:spcAft>
                <a:spcPts val="300"/>
              </a:spcAft>
              <a:defRPr sz="1050">
                <a:solidFill>
                  <a:srgbClr val="334155"/>
                </a:solidFill>
                <a:latin typeface="Inter"/>
              </a:defRPr>
            </a:pPr>
            <a:r>
              <a:t>ReLU + Dropout(0.2)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234440"/>
            <a:ext cx="2496312" cy="3749039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371600"/>
            <a:ext cx="222199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284C7"/>
                </a:solidFill>
                <a:latin typeface="Manrope"/>
              </a:defRPr>
            </a:pPr>
            <a:r>
              <a:t>Hidden Layer 2</a:t>
            </a:r>
          </a:p>
          <a:p>
            <a:pPr>
              <a:spcAft>
                <a:spcPts val="1000"/>
              </a:spcAft>
              <a:defRPr sz="1100" b="1">
                <a:solidFill>
                  <a:srgbClr val="0F172A"/>
                </a:solidFill>
                <a:latin typeface="Inter"/>
              </a:defRPr>
            </a:pPr>
            <a:r>
              <a:t>64 Neurons</a:t>
            </a:r>
          </a:p>
          <a:p>
            <a:pPr>
              <a:spcAft>
                <a:spcPts val="300"/>
              </a:spcAft>
              <a:defRPr sz="1050">
                <a:solidFill>
                  <a:srgbClr val="334155"/>
                </a:solidFill>
                <a:latin typeface="Inter"/>
              </a:defRPr>
            </a:pPr>
            <a:r>
              <a:t>Linear(128 -&gt; 64)</a:t>
            </a:r>
          </a:p>
          <a:p>
            <a:pPr>
              <a:spcAft>
                <a:spcPts val="300"/>
              </a:spcAft>
              <a:defRPr sz="1050">
                <a:solidFill>
                  <a:srgbClr val="334155"/>
                </a:solidFill>
                <a:latin typeface="Inter"/>
              </a:defRPr>
            </a:pPr>
            <a:r>
              <a:t>BatchNorm1d</a:t>
            </a:r>
          </a:p>
          <a:p>
            <a:pPr>
              <a:spcAft>
                <a:spcPts val="300"/>
              </a:spcAft>
              <a:defRPr sz="1050">
                <a:solidFill>
                  <a:srgbClr val="334155"/>
                </a:solidFill>
                <a:latin typeface="Inter"/>
              </a:defRPr>
            </a:pPr>
            <a:r>
              <a:t>ReLU + Dropout(0.2)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1234440"/>
            <a:ext cx="2496312" cy="3749039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98280" y="1371600"/>
            <a:ext cx="222199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0B981"/>
                </a:solidFill>
                <a:latin typeface="Manrope"/>
              </a:defRPr>
            </a:pPr>
            <a:r>
              <a:t>Output Layer</a:t>
            </a:r>
          </a:p>
          <a:p>
            <a:pPr>
              <a:spcAft>
                <a:spcPts val="1000"/>
              </a:spcAft>
              <a:defRPr sz="1100" b="1">
                <a:solidFill>
                  <a:srgbClr val="0F172A"/>
                </a:solidFill>
                <a:latin typeface="Inter"/>
              </a:defRPr>
            </a:pPr>
            <a:r>
              <a:t>8 Classes</a:t>
            </a:r>
          </a:p>
          <a:p>
            <a:pPr>
              <a:spcAft>
                <a:spcPts val="300"/>
              </a:spcAft>
              <a:defRPr sz="1050">
                <a:solidFill>
                  <a:srgbClr val="334155"/>
                </a:solidFill>
                <a:latin typeface="Inter"/>
              </a:defRPr>
            </a:pPr>
            <a:r>
              <a:t>Linear(64 -&gt; 8)</a:t>
            </a:r>
          </a:p>
          <a:p>
            <a:pPr>
              <a:spcAft>
                <a:spcPts val="300"/>
              </a:spcAft>
              <a:defRPr sz="1050">
                <a:solidFill>
                  <a:srgbClr val="334155"/>
                </a:solidFill>
                <a:latin typeface="Inter"/>
              </a:defRPr>
            </a:pPr>
            <a:r>
              <a:t>Softmax Activation</a:t>
            </a:r>
          </a:p>
          <a:p>
            <a:pPr>
              <a:spcAft>
                <a:spcPts val="300"/>
              </a:spcAft>
              <a:defRPr sz="1050">
                <a:solidFill>
                  <a:srgbClr val="334155"/>
                </a:solidFill>
                <a:latin typeface="Inter"/>
              </a:defRPr>
            </a:pPr>
            <a:r>
              <a:t>8 Class Probabilities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166360"/>
            <a:ext cx="10725912" cy="868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257800"/>
            <a:ext cx="103601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284C7"/>
                </a:solidFill>
                <a:latin typeface="Manrope"/>
              </a:defRPr>
            </a:pPr>
            <a:r>
              <a:t>11,592 Trainable Parameters   |   52.5 KB Checkpoint Size   |   58.75s CPU Training Time (Adam, lr=0.001, Batch=128)</a:t>
            </a:r>
          </a:p>
          <a:p>
            <a:pPr algn="ctr">
              <a:defRPr sz="1000">
                <a:solidFill>
                  <a:srgbClr val="64748B"/>
                </a:solidFill>
                <a:latin typeface="Inter"/>
              </a:defRPr>
            </a:pPr>
            <a:r>
              <a:t>Regularization: Batch Normalization after each linear transform + Dropout (p=0.2) + Weight Decay L2 (1e-4) to prevent overfitting.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9260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Manrope"/>
              </a:defRPr>
            </a:pPr>
            <a:r>
              <a:t>PART III • TIER 2: NEURAL NETWORK (3-LAYER MLP)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Manrope"/>
              </a:defRPr>
            </a:pPr>
            <a:r>
              <a:t>Step-by-Step Forward Pass: How the Model Predicts a 16-QAM Burst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263640"/>
            <a:ext cx="10725912" cy="9144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Inter"/>
              </a:defRPr>
            </a:pPr>
            <a:r>
              <a:t>EE136: Machine Learning for Wireless Communications | Topic 1: Comprehensive Model Benchmark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355080"/>
            <a:ext cx="1856231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Manrope"/>
              </a:defRPr>
            </a:pPr>
            <a:r>
              <a:t>Slide 10 of 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34440"/>
            <a:ext cx="2496312" cy="4800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371600"/>
            <a:ext cx="2221992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50" b="1">
                <a:solidFill>
                  <a:srgbClr val="2563EB"/>
                </a:solidFill>
                <a:latin typeface="Manrope"/>
              </a:defRPr>
            </a:pPr>
            <a:r>
              <a:t>STEP 1: Extract</a:t>
            </a:r>
          </a:p>
          <a:p>
            <a:pPr>
              <a:spcAft>
                <a:spcPts val="1200"/>
              </a:spcAft>
              <a:defRPr sz="1100" b="1">
                <a:solidFill>
                  <a:srgbClr val="0F172A"/>
                </a:solidFill>
                <a:latin typeface="Inter"/>
              </a:defRPr>
            </a:pPr>
            <a:r>
              <a:t>18 Domain Features</a:t>
            </a:r>
          </a:p>
          <a:p>
            <a:pPr>
              <a:spcAft>
                <a:spcPts val="300"/>
              </a:spcAft>
              <a:defRPr sz="1050">
                <a:solidFill>
                  <a:srgbClr val="334155"/>
                </a:solidFill>
                <a:latin typeface="Inter"/>
              </a:defRPr>
            </a:pPr>
            <a:r>
              <a:t>C40 = -0.68</a:t>
            </a:r>
          </a:p>
          <a:p>
            <a:pPr>
              <a:spcAft>
                <a:spcPts val="300"/>
              </a:spcAft>
              <a:defRPr sz="1050">
                <a:solidFill>
                  <a:srgbClr val="334155"/>
                </a:solidFill>
                <a:latin typeface="Inter"/>
              </a:defRPr>
            </a:pPr>
            <a:r>
              <a:t>C42 = +0.84</a:t>
            </a:r>
          </a:p>
          <a:p>
            <a:pPr>
              <a:spcAft>
                <a:spcPts val="300"/>
              </a:spcAft>
              <a:defRPr sz="1050">
                <a:solidFill>
                  <a:srgbClr val="334155"/>
                </a:solidFill>
                <a:latin typeface="Inter"/>
              </a:defRPr>
            </a:pPr>
            <a:r>
              <a:t>Kurt_psd = 3.42</a:t>
            </a:r>
          </a:p>
          <a:p>
            <a:pPr>
              <a:spcAft>
                <a:spcPts val="300"/>
              </a:spcAft>
              <a:defRPr sz="1050">
                <a:solidFill>
                  <a:srgbClr val="334155"/>
                </a:solidFill>
                <a:latin typeface="Inter"/>
              </a:defRPr>
            </a:pPr>
            <a:r>
              <a:t>gamma_max = 1.89</a:t>
            </a:r>
          </a:p>
          <a:p>
            <a:pPr>
              <a:spcAft>
                <a:spcPts val="300"/>
              </a:spcAft>
              <a:defRPr sz="1050">
                <a:solidFill>
                  <a:srgbClr val="334155"/>
                </a:solidFill>
                <a:latin typeface="Inter"/>
              </a:defRPr>
            </a:pPr>
            <a:r>
              <a:t>sigma_aa = 0.31</a:t>
            </a:r>
          </a:p>
          <a:p>
            <a:pPr>
              <a:spcAft>
                <a:spcPts val="300"/>
              </a:spcAft>
              <a:defRPr sz="1050">
                <a:solidFill>
                  <a:srgbClr val="334155"/>
                </a:solidFill>
                <a:latin typeface="Inter"/>
              </a:defRPr>
            </a:pPr>
            <a:r>
              <a:t>PAPR = 2.15</a:t>
            </a:r>
          </a:p>
          <a:p>
            <a:pPr>
              <a:spcAft>
                <a:spcPts val="300"/>
              </a:spcAft>
              <a:defRPr sz="1050">
                <a:solidFill>
                  <a:srgbClr val="334155"/>
                </a:solidFill>
                <a:latin typeface="Inter"/>
              </a:defRPr>
            </a:pPr>
            <a:r>
              <a:t>Vector x in R^18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234440"/>
            <a:ext cx="2496312" cy="4800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80" y="1371600"/>
            <a:ext cx="2221992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50" b="1">
                <a:solidFill>
                  <a:srgbClr val="2563EB"/>
                </a:solidFill>
                <a:latin typeface="Manrope"/>
              </a:defRPr>
            </a:pPr>
            <a:r>
              <a:t>STEP 2: Scale</a:t>
            </a:r>
          </a:p>
          <a:p>
            <a:pPr>
              <a:spcAft>
                <a:spcPts val="1200"/>
              </a:spcAft>
              <a:defRPr sz="1100" b="1">
                <a:solidFill>
                  <a:srgbClr val="0F172A"/>
                </a:solidFill>
                <a:latin typeface="Inter"/>
              </a:defRPr>
            </a:pPr>
            <a:r>
              <a:t>StandardScaler</a:t>
            </a:r>
          </a:p>
          <a:p>
            <a:pPr>
              <a:spcAft>
                <a:spcPts val="300"/>
              </a:spcAft>
              <a:defRPr sz="1050">
                <a:solidFill>
                  <a:srgbClr val="334155"/>
                </a:solidFill>
                <a:latin typeface="Inter"/>
              </a:defRPr>
            </a:pPr>
            <a:r>
              <a:t>z = (x - mu) / sigma</a:t>
            </a:r>
          </a:p>
          <a:p>
            <a:pPr>
              <a:spcAft>
                <a:spcPts val="300"/>
              </a:spcAft>
              <a:defRPr sz="1050">
                <a:solidFill>
                  <a:srgbClr val="334155"/>
                </a:solidFill>
                <a:latin typeface="Inter"/>
              </a:defRPr>
            </a:pPr>
          </a:p>
          <a:p>
            <a:pPr>
              <a:spcAft>
                <a:spcPts val="300"/>
              </a:spcAft>
              <a:defRPr sz="1050">
                <a:solidFill>
                  <a:srgbClr val="334155"/>
                </a:solidFill>
                <a:latin typeface="Inter"/>
              </a:defRPr>
            </a:pPr>
            <a:r>
              <a:t>Transforms Narrow Ravine into Round Bowl</a:t>
            </a:r>
          </a:p>
          <a:p>
            <a:pPr>
              <a:spcAft>
                <a:spcPts val="300"/>
              </a:spcAft>
              <a:defRPr sz="1050">
                <a:solidFill>
                  <a:srgbClr val="334155"/>
                </a:solidFill>
                <a:latin typeface="Inter"/>
              </a:defRPr>
            </a:pPr>
          </a:p>
          <a:p>
            <a:pPr>
              <a:spcAft>
                <a:spcPts val="300"/>
              </a:spcAft>
              <a:defRPr sz="1050">
                <a:solidFill>
                  <a:srgbClr val="334155"/>
                </a:solidFill>
                <a:latin typeface="Inter"/>
              </a:defRPr>
            </a:pPr>
            <a:r>
              <a:t>Prevents large features (e.g. C42) from dominating!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234440"/>
            <a:ext cx="2496312" cy="4800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371600"/>
            <a:ext cx="2221992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50" b="1">
                <a:solidFill>
                  <a:srgbClr val="2563EB"/>
                </a:solidFill>
                <a:latin typeface="Manrope"/>
              </a:defRPr>
            </a:pPr>
            <a:r>
              <a:t>STEP 3: Forward</a:t>
            </a:r>
          </a:p>
          <a:p>
            <a:pPr>
              <a:spcAft>
                <a:spcPts val="1200"/>
              </a:spcAft>
              <a:defRPr sz="1100" b="1">
                <a:solidFill>
                  <a:srgbClr val="0F172A"/>
                </a:solidFill>
                <a:latin typeface="Inter"/>
              </a:defRPr>
            </a:pPr>
            <a:r>
              <a:t>3 Dense Layers</a:t>
            </a:r>
          </a:p>
          <a:p>
            <a:pPr>
              <a:spcAft>
                <a:spcPts val="300"/>
              </a:spcAft>
              <a:defRPr sz="1050">
                <a:solidFill>
                  <a:srgbClr val="334155"/>
                </a:solidFill>
                <a:latin typeface="Inter"/>
              </a:defRPr>
            </a:pPr>
            <a:r>
              <a:t>Layer 1: 18 -&gt; 128</a:t>
            </a:r>
          </a:p>
          <a:p>
            <a:pPr>
              <a:spcAft>
                <a:spcPts val="300"/>
              </a:spcAft>
              <a:defRPr sz="1050">
                <a:solidFill>
                  <a:srgbClr val="334155"/>
                </a:solidFill>
                <a:latin typeface="Inter"/>
              </a:defRPr>
            </a:pPr>
            <a:r>
              <a:t>BatchNorm + ReLU</a:t>
            </a:r>
          </a:p>
          <a:p>
            <a:pPr>
              <a:spcAft>
                <a:spcPts val="300"/>
              </a:spcAft>
              <a:defRPr sz="1050">
                <a:solidFill>
                  <a:srgbClr val="334155"/>
                </a:solidFill>
                <a:latin typeface="Inter"/>
              </a:defRPr>
            </a:pPr>
          </a:p>
          <a:p>
            <a:pPr>
              <a:spcAft>
                <a:spcPts val="300"/>
              </a:spcAft>
              <a:defRPr sz="1050">
                <a:solidFill>
                  <a:srgbClr val="334155"/>
                </a:solidFill>
                <a:latin typeface="Inter"/>
              </a:defRPr>
            </a:pPr>
            <a:r>
              <a:t>Layer 2: 128 -&gt; 64</a:t>
            </a:r>
          </a:p>
          <a:p>
            <a:pPr>
              <a:spcAft>
                <a:spcPts val="300"/>
              </a:spcAft>
              <a:defRPr sz="1050">
                <a:solidFill>
                  <a:srgbClr val="334155"/>
                </a:solidFill>
                <a:latin typeface="Inter"/>
              </a:defRPr>
            </a:pPr>
            <a:r>
              <a:t>BatchNorm + ReLU</a:t>
            </a:r>
          </a:p>
          <a:p>
            <a:pPr>
              <a:spcAft>
                <a:spcPts val="300"/>
              </a:spcAft>
              <a:defRPr sz="1050">
                <a:solidFill>
                  <a:srgbClr val="334155"/>
                </a:solidFill>
                <a:latin typeface="Inter"/>
              </a:defRPr>
            </a:pPr>
          </a:p>
          <a:p>
            <a:pPr>
              <a:spcAft>
                <a:spcPts val="300"/>
              </a:spcAft>
              <a:defRPr sz="1050">
                <a:solidFill>
                  <a:srgbClr val="334155"/>
                </a:solidFill>
                <a:latin typeface="Inter"/>
              </a:defRPr>
            </a:pPr>
            <a:r>
              <a:t>Layer 3: 64 -&gt; 8 logits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1234440"/>
            <a:ext cx="2496312" cy="4800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98280" y="1371600"/>
            <a:ext cx="2221992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50" b="1">
                <a:solidFill>
                  <a:srgbClr val="2563EB"/>
                </a:solidFill>
                <a:latin typeface="Manrope"/>
              </a:defRPr>
            </a:pPr>
            <a:r>
              <a:t>STEP 4: Decide</a:t>
            </a:r>
          </a:p>
          <a:p>
            <a:pPr>
              <a:spcAft>
                <a:spcPts val="1200"/>
              </a:spcAft>
              <a:defRPr sz="1100" b="1">
                <a:solidFill>
                  <a:srgbClr val="0F172A"/>
                </a:solidFill>
                <a:latin typeface="Inter"/>
              </a:defRPr>
            </a:pPr>
            <a:r>
              <a:t>Softmax Probabilities</a:t>
            </a:r>
          </a:p>
          <a:p>
            <a:pPr>
              <a:spcAft>
                <a:spcPts val="300"/>
              </a:spcAft>
              <a:defRPr sz="1050">
                <a:solidFill>
                  <a:srgbClr val="334155"/>
                </a:solidFill>
                <a:latin typeface="Inter"/>
              </a:defRPr>
            </a:pPr>
            <a:r>
              <a:t>16-QAM: 82% (Decision)</a:t>
            </a:r>
          </a:p>
          <a:p>
            <a:pPr>
              <a:spcAft>
                <a:spcPts val="300"/>
              </a:spcAft>
              <a:defRPr sz="1050">
                <a:solidFill>
                  <a:srgbClr val="334155"/>
                </a:solidFill>
                <a:latin typeface="Inter"/>
              </a:defRPr>
            </a:pPr>
            <a:r>
              <a:t>64-QAM: 11%</a:t>
            </a:r>
          </a:p>
          <a:p>
            <a:pPr>
              <a:spcAft>
                <a:spcPts val="300"/>
              </a:spcAft>
              <a:defRPr sz="1050">
                <a:solidFill>
                  <a:srgbClr val="334155"/>
                </a:solidFill>
                <a:latin typeface="Inter"/>
              </a:defRPr>
            </a:pPr>
            <a:r>
              <a:t>QPSK:    4%</a:t>
            </a:r>
          </a:p>
          <a:p>
            <a:pPr>
              <a:spcAft>
                <a:spcPts val="300"/>
              </a:spcAft>
              <a:defRPr sz="1050">
                <a:solidFill>
                  <a:srgbClr val="334155"/>
                </a:solidFill>
                <a:latin typeface="Inter"/>
              </a:defRPr>
            </a:pPr>
            <a:r>
              <a:t>BPSK:    2%</a:t>
            </a:r>
          </a:p>
          <a:p>
            <a:pPr>
              <a:spcAft>
                <a:spcPts val="300"/>
              </a:spcAft>
              <a:defRPr sz="1050">
                <a:solidFill>
                  <a:srgbClr val="334155"/>
                </a:solidFill>
                <a:latin typeface="Inter"/>
              </a:defRPr>
            </a:pPr>
            <a:r>
              <a:t>Others:  1%</a:t>
            </a:r>
          </a:p>
          <a:p>
            <a:pPr>
              <a:spcAft>
                <a:spcPts val="300"/>
              </a:spcAft>
              <a:defRPr sz="1050">
                <a:solidFill>
                  <a:srgbClr val="334155"/>
                </a:solidFill>
                <a:latin typeface="Inter"/>
              </a:defRPr>
            </a:pPr>
          </a:p>
          <a:p>
            <a:pPr>
              <a:spcAft>
                <a:spcPts val="300"/>
              </a:spcAft>
              <a:defRPr sz="1050">
                <a:solidFill>
                  <a:srgbClr val="334155"/>
                </a:solidFill>
                <a:latin typeface="Inter"/>
              </a:defRPr>
            </a:pPr>
            <a:r>
              <a:t>High-confidence outcome!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9260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Manrope"/>
              </a:defRPr>
            </a:pPr>
            <a:r>
              <a:t>PART III • TIER 2: NEURAL NETWORK (3-LAYER MLP)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Manrope"/>
              </a:defRPr>
            </a:pPr>
            <a:r>
              <a:t>Loss Landscapes: Narrow Ravine vs. Round Bowl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263640"/>
            <a:ext cx="10725912" cy="9144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Inter"/>
              </a:defRPr>
            </a:pPr>
            <a:r>
              <a:t>EE136: Machine Learning for Wireless Communications | Topic 1: Comprehensive Model Benchmark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355080"/>
            <a:ext cx="1856231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Manrope"/>
              </a:defRPr>
            </a:pPr>
            <a:r>
              <a:t>Slide 11 of 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34440"/>
            <a:ext cx="3383280" cy="4800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371600"/>
            <a:ext cx="310896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2563EB"/>
                </a:solidFill>
                <a:latin typeface="Manrope"/>
              </a:defRPr>
            </a:pPr>
            <a:r>
              <a:t>Feature Scaling Physics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0284C7"/>
                </a:solidFill>
              </a:rPr>
              <a:t>Scale Disparity: </a:t>
            </a:r>
            <a:r>
              <a:rPr sz="1050">
                <a:solidFill>
                  <a:srgbClr val="0F172A"/>
                </a:solidFill>
              </a:rPr>
              <a:t>Raw physical features span radically different numerical scales: PAPR in [0, 10], C40 in [-2, +0.5], Kurt_psd in [1, 50].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0284C7"/>
                </a:solidFill>
              </a:rPr>
              <a:t>Unscaled (Narrow Ravine): </a:t>
            </a:r>
            <a:r>
              <a:rPr sz="1050">
                <a:solidFill>
                  <a:srgbClr val="0F172A"/>
                </a:solidFill>
              </a:rPr>
              <a:t>Hessian condition number kappa = lambda_max / lambda_min &gt;&gt; 1. Gradient descent oscillates violently across steep walls without making progress.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0284C7"/>
                </a:solidFill>
              </a:rPr>
              <a:t>Standardized (Round Bowl): </a:t>
            </a:r>
            <a:r>
              <a:rPr sz="1050">
                <a:solidFill>
                  <a:srgbClr val="0F172A"/>
                </a:solidFill>
              </a:rPr>
              <a:t>Transforms coordinates to z = (x - mu)/sigma with unit variance. Condition number drops near kappa ≈ 1.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0284C7"/>
                </a:solidFill>
              </a:rPr>
              <a:t>Convergence Acceleration: </a:t>
            </a:r>
            <a:r>
              <a:rPr sz="1050">
                <a:solidFill>
                  <a:srgbClr val="0F172A"/>
                </a:solidFill>
              </a:rPr>
              <a:t>Allows 10x larger learning rate (lr=0.001) without divergence, reducing training time from hours to under 60 seconds.</a:t>
            </a:r>
          </a:p>
        </p:txBody>
      </p:sp>
      <p:pic>
        <p:nvPicPr>
          <p:cNvPr id="9" name="Picture 8" descr="mlp_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234440"/>
            <a:ext cx="7159752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9260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Manrope"/>
              </a:defRPr>
            </a:pPr>
            <a:r>
              <a:t>PART III • TIER 2: NEURAL NETWORK (3-LAYER MLP)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Manrope"/>
              </a:defRPr>
            </a:pPr>
            <a:r>
              <a:t>Training Convergence &amp; Cross-Entropy Loss History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263640"/>
            <a:ext cx="10725912" cy="9144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Inter"/>
              </a:defRPr>
            </a:pPr>
            <a:r>
              <a:t>EE136: Machine Learning for Wireless Communications | Topic 1: Comprehensive Model Benchmark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355080"/>
            <a:ext cx="1856231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Manrope"/>
              </a:defRPr>
            </a:pPr>
            <a:r>
              <a:t>Slide 12 of 20</a:t>
            </a:r>
          </a:p>
        </p:txBody>
      </p:sp>
      <p:pic>
        <p:nvPicPr>
          <p:cNvPr id="7" name="Picture 6" descr="mlp_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6858000" cy="48006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772400" y="1234440"/>
            <a:ext cx="3685032" cy="4800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09560" y="1371600"/>
            <a:ext cx="3410712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284C7"/>
                </a:solidFill>
                <a:latin typeface="Manrope"/>
              </a:defRPr>
            </a:pPr>
            <a:r>
              <a:t>Training &amp; Checkpointing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284C7"/>
                </a:solidFill>
              </a:rPr>
              <a:t>Loss Function: </a:t>
            </a:r>
            <a:r>
              <a:rPr sz="1100">
                <a:solidFill>
                  <a:srgbClr val="0F172A"/>
                </a:solidFill>
              </a:rPr>
              <a:t>Cross-Entropy Loss with L2 weight decay (1e-4) to penalize excessive weight magnitudes.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284C7"/>
                </a:solidFill>
              </a:rPr>
              <a:t>Optimizer Setup: </a:t>
            </a:r>
            <a:r>
              <a:rPr sz="1100">
                <a:solidFill>
                  <a:srgbClr val="0F172A"/>
                </a:solidFill>
              </a:rPr>
              <a:t>Adam optimizer (lr=0.001, beta1=0.9, beta2=0.999), batch size = 128.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284C7"/>
                </a:solidFill>
              </a:rPr>
              <a:t>Epoch Trajectory: </a:t>
            </a:r>
            <a:r>
              <a:rPr sz="1100">
                <a:solidFill>
                  <a:srgbClr val="0F172A"/>
                </a:solidFill>
              </a:rPr>
              <a:t>Trained for 35 epochs (58.75s total CPU time). Loss drops rapidly from 2.05 to ~1.60 in first 10 epochs.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284C7"/>
                </a:solidFill>
              </a:rPr>
              <a:t>Best Checkpoint: </a:t>
            </a:r>
            <a:r>
              <a:rPr sz="1100">
                <a:solidFill>
                  <a:srgbClr val="0F172A"/>
                </a:solidFill>
              </a:rPr>
              <a:t>Epoch 33 achieves lowest validation loss (1.572) and highest validation accuracy (39.8%). Saved as best_mlp.pth.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284C7"/>
                </a:solidFill>
              </a:rPr>
              <a:t>Generalization Check: </a:t>
            </a:r>
            <a:r>
              <a:rPr sz="1100">
                <a:solidFill>
                  <a:srgbClr val="0F172A"/>
                </a:solidFill>
              </a:rPr>
              <a:t>Train and validation curves track closely; dropout (p=0.2) successfully suppresses overfitting.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9260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Manrope"/>
              </a:defRPr>
            </a:pPr>
            <a:r>
              <a:t>PART III • TIER 2: NEURAL NETWORK (3-LAYER MLP)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Manrope"/>
              </a:defRPr>
            </a:pPr>
            <a:r>
              <a:t>MLP Error Diagnostics &amp; Operating-Condition Slicing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263640"/>
            <a:ext cx="10725912" cy="9144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Inter"/>
              </a:defRPr>
            </a:pPr>
            <a:r>
              <a:t>EE136: Machine Learning for Wireless Communications | Topic 1: Comprehensive Model Benchmark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355080"/>
            <a:ext cx="1856231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Manrope"/>
              </a:defRPr>
            </a:pPr>
            <a:r>
              <a:t>Slide 13 of 20</a:t>
            </a:r>
          </a:p>
        </p:txBody>
      </p:sp>
      <p:pic>
        <p:nvPicPr>
          <p:cNvPr id="7" name="Picture 6" descr="mlp_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6858000" cy="48006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772400" y="1234440"/>
            <a:ext cx="3685032" cy="4800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09560" y="1371600"/>
            <a:ext cx="3410712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284C7"/>
                </a:solidFill>
                <a:latin typeface="Manrope"/>
              </a:defRPr>
            </a:pPr>
            <a:r>
              <a:t>Operational Regime Slicing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284C7"/>
                </a:solidFill>
              </a:rPr>
              <a:t>Low SNR (-10 to -2 dB): </a:t>
            </a:r>
            <a:r>
              <a:rPr sz="1100">
                <a:solidFill>
                  <a:srgbClr val="0F172A"/>
                </a:solidFill>
              </a:rPr>
              <a:t>Acc: 14.7% -&gt; 24.8%. Model predictions scattered broadly across all classes due to noisy cumulant estimates.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284C7"/>
                </a:solidFill>
              </a:rPr>
              <a:t>Transition (0 to +6 dB): </a:t>
            </a:r>
            <a:r>
              <a:rPr sz="1100">
                <a:solidFill>
                  <a:srgbClr val="0F172A"/>
                </a:solidFill>
              </a:rPr>
              <a:t>Acc jumps steeply to 42.4%. BPSK reaches 98% accuracy; QPSK reaches 57% accuracy as phase points coalesce.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284C7"/>
                </a:solidFill>
              </a:rPr>
              <a:t>High SNR (+8 to +18 dB): </a:t>
            </a:r>
            <a:r>
              <a:rPr sz="1100">
                <a:solidFill>
                  <a:srgbClr val="0F172A"/>
                </a:solidFill>
              </a:rPr>
              <a:t>Acc saturates at ~49.1% (35.17% overall test acc). Reaches identical cumulant ceiling as Random Forest (~48.25%).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284C7"/>
                </a:solidFill>
              </a:rPr>
              <a:t>Confusion Mode: </a:t>
            </a:r>
            <a:r>
              <a:rPr sz="1100">
                <a:solidFill>
                  <a:srgbClr val="0F172A"/>
                </a:solidFill>
              </a:rPr>
              <a:t>Inability to distinguish 8PSK vs 16PSK vs 32PSK and 16QAM vs 64QAM vs 256QAM confirms that the bottleneck is the 18-feature set, not the MLP architecture!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9260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Manrope"/>
              </a:defRPr>
            </a:pPr>
            <a:r>
              <a:t>PART IV • TIER 3: DEEP CONVNET (1D CNN)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Manrope"/>
              </a:defRPr>
            </a:pPr>
            <a:r>
              <a:t>1D CNN Architecture &amp; Raw Baseband I/Q Training Setup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263640"/>
            <a:ext cx="10725912" cy="9144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Inter"/>
              </a:defRPr>
            </a:pPr>
            <a:r>
              <a:t>EE136: Machine Learning for Wireless Communications | Topic 1: Comprehensive Model Benchmark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355080"/>
            <a:ext cx="1856231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Manrope"/>
              </a:defRPr>
            </a:pPr>
            <a:r>
              <a:t>Slide 14 of 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34440"/>
            <a:ext cx="6903720" cy="4800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371600"/>
            <a:ext cx="662940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EC4899"/>
                </a:solidFill>
                <a:latin typeface="Manrope"/>
              </a:defRPr>
            </a:pPr>
            <a:r>
              <a:t>THREE CONVOLUTIONAL FEATURE BLOCKS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284C7"/>
                </a:solidFill>
              </a:rPr>
              <a:t>Raw Input Tensor: </a:t>
            </a:r>
            <a:r>
              <a:rPr sz="1100">
                <a:solidFill>
                  <a:srgbClr val="0F172A"/>
                </a:solidFill>
              </a:rPr>
              <a:t>Takes directly [2, 128] real baseband matrix (Row 0: I[n], Row 1: Q[n]). NO hand-crafted feature extraction!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284C7"/>
                </a:solidFill>
              </a:rPr>
              <a:t>Conv Block 1: </a:t>
            </a:r>
            <a:r>
              <a:rPr sz="1100">
                <a:solidFill>
                  <a:srgbClr val="0F172A"/>
                </a:solidFill>
              </a:rPr>
              <a:t>Conv1D(in_channels=2, out_channels=32, kernel_size=5, padding=2) -&gt; BatchNorm1d -&gt; ReLU -&gt; MaxPool1d(2). Outputs [32, 64].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284C7"/>
                </a:solidFill>
              </a:rPr>
              <a:t>Conv Block 2: </a:t>
            </a:r>
            <a:r>
              <a:rPr sz="1100">
                <a:solidFill>
                  <a:srgbClr val="0F172A"/>
                </a:solidFill>
              </a:rPr>
              <a:t>Conv1D(in_channels=32, out_channels=64, kernel_size=5, padding=2) -&gt; BatchNorm1d -&gt; ReLU -&gt; MaxPool1d(2). Outputs [64, 32].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284C7"/>
                </a:solidFill>
              </a:rPr>
              <a:t>Conv Block 3: </a:t>
            </a:r>
            <a:r>
              <a:rPr sz="1100">
                <a:solidFill>
                  <a:srgbClr val="0F172A"/>
                </a:solidFill>
              </a:rPr>
              <a:t>Conv1D(in_channels=64, out_channels=128, kernel_size=5, padding=2) -&gt; BatchNorm1d -&gt; ReLU -&gt; MaxPool1d(2). Outputs [128, 16].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284C7"/>
                </a:solidFill>
              </a:rPr>
              <a:t>Classifier Head: </a:t>
            </a:r>
            <a:r>
              <a:rPr sz="1100">
                <a:solidFill>
                  <a:srgbClr val="0F172A"/>
                </a:solidFill>
              </a:rPr>
              <a:t>AdaptiveAvgPool1d(1) -&gt; Dropout(0.25) -&gt; Linear(128, 8) -&gt; Logits. Learns continuous phase trajectory filters!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90688" y="1234440"/>
            <a:ext cx="3666744" cy="4800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8" y="1371600"/>
            <a:ext cx="3392424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284C7"/>
                </a:solidFill>
                <a:latin typeface="Manrope"/>
              </a:defRPr>
            </a:pPr>
            <a:r>
              <a:t>MODEL CONFIGURATION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0284C7"/>
                </a:solidFill>
              </a:rPr>
              <a:t>Training Data: </a:t>
            </a:r>
            <a:r>
              <a:rPr sz="1100">
                <a:solidFill>
                  <a:srgbClr val="0F172A"/>
                </a:solidFill>
              </a:rPr>
              <a:t>67,200 raw I/Q bursts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0284C7"/>
                </a:solidFill>
              </a:rPr>
              <a:t>Validation / Test: </a:t>
            </a:r>
            <a:r>
              <a:rPr sz="1100">
                <a:solidFill>
                  <a:srgbClr val="0F172A"/>
                </a:solidFill>
              </a:rPr>
              <a:t>14,400 raw bursts each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0284C7"/>
                </a:solidFill>
              </a:rPr>
              <a:t>Batch Size: </a:t>
            </a:r>
            <a:r>
              <a:rPr sz="1100">
                <a:solidFill>
                  <a:srgbClr val="0F172A"/>
                </a:solidFill>
              </a:rPr>
              <a:t>256 bursts / iteration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0284C7"/>
                </a:solidFill>
              </a:rPr>
              <a:t>Optimizer: </a:t>
            </a:r>
            <a:r>
              <a:rPr sz="1100">
                <a:solidFill>
                  <a:srgbClr val="0F172A"/>
                </a:solidFill>
              </a:rPr>
              <a:t>Adam, Learning Rate = 0.001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0284C7"/>
                </a:solidFill>
              </a:rPr>
              <a:t>Criterion: </a:t>
            </a:r>
            <a:r>
              <a:rPr sz="1100">
                <a:solidFill>
                  <a:srgbClr val="0F172A"/>
                </a:solidFill>
              </a:rPr>
              <a:t>Cross-Entropy Loss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0284C7"/>
                </a:solidFill>
              </a:rPr>
              <a:t>Parameter Count: </a:t>
            </a:r>
            <a:r>
              <a:rPr sz="1100">
                <a:solidFill>
                  <a:srgbClr val="0F172A"/>
                </a:solidFill>
              </a:rPr>
              <a:t>53,224 trainable weights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0284C7"/>
                </a:solidFill>
              </a:rPr>
              <a:t>File Size: </a:t>
            </a:r>
            <a:r>
              <a:rPr sz="1100">
                <a:solidFill>
                  <a:srgbClr val="0F172A"/>
                </a:solidFill>
              </a:rPr>
              <a:t>0.213 MB (compact checkpoint)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0284C7"/>
                </a:solidFill>
              </a:rPr>
              <a:t>Best Checkpoint: </a:t>
            </a:r>
            <a:r>
              <a:rPr sz="1100">
                <a:solidFill>
                  <a:srgbClr val="0F172A"/>
                </a:solidFill>
              </a:rPr>
              <a:t>Epoch 28 (Val Acc ~39.2%)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9260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Manrope"/>
              </a:defRPr>
            </a:pPr>
            <a:r>
              <a:t>PART IV • TIER 3: DEEP CONVNET (1D CNN)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Manrope"/>
              </a:defRPr>
            </a:pPr>
            <a:r>
              <a:t>1D CNN Training Dynamics &amp; Model Selection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263640"/>
            <a:ext cx="10725912" cy="9144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Inter"/>
              </a:defRPr>
            </a:pPr>
            <a:r>
              <a:t>EE136: Machine Learning for Wireless Communications | Topic 1: Comprehensive Model Benchmark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355080"/>
            <a:ext cx="1856231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Manrope"/>
              </a:defRPr>
            </a:pPr>
            <a:r>
              <a:t>Slide 15 of 20</a:t>
            </a:r>
          </a:p>
        </p:txBody>
      </p:sp>
      <p:pic>
        <p:nvPicPr>
          <p:cNvPr id="7" name="Picture 6" descr="cnn_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7818120" cy="48006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705088" y="1234440"/>
            <a:ext cx="2752344" cy="4800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42248" y="1371600"/>
            <a:ext cx="2478024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284C7"/>
                </a:solidFill>
                <a:latin typeface="Manrope"/>
              </a:defRPr>
            </a:pPr>
            <a:r>
              <a:t>TRAINING FINDINGS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284C7"/>
                </a:solidFill>
              </a:rPr>
              <a:t>Loss Stabilization: </a:t>
            </a:r>
            <a:r>
              <a:rPr sz="1100">
                <a:solidFill>
                  <a:srgbClr val="0F172A"/>
                </a:solidFill>
              </a:rPr>
              <a:t>Validation loss flattens near 1.39 - 1.40 after epoch 20.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284C7"/>
                </a:solidFill>
              </a:rPr>
              <a:t>Accuracy Progression: </a:t>
            </a:r>
            <a:r>
              <a:rPr sz="1100">
                <a:solidFill>
                  <a:srgbClr val="0F172A"/>
                </a:solidFill>
              </a:rPr>
              <a:t>Training accuracy steadily climbs, while validation stabilizes around 39%.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284C7"/>
                </a:solidFill>
              </a:rPr>
              <a:t>Best Checkpoint: </a:t>
            </a:r>
            <a:r>
              <a:rPr sz="1100">
                <a:solidFill>
                  <a:srgbClr val="0F172A"/>
                </a:solidFill>
              </a:rPr>
              <a:t>Epoch 28 achieves peak validation accuracy (39.22%).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284C7"/>
                </a:solidFill>
              </a:rPr>
              <a:t>Early Stopping: </a:t>
            </a:r>
            <a:r>
              <a:rPr sz="1100">
                <a:solidFill>
                  <a:srgbClr val="0F172A"/>
                </a:solidFill>
              </a:rPr>
              <a:t>Training halted at epoch 37 to avoid overfitting on high-noise bursts.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9260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Manrope"/>
              </a:defRPr>
            </a:pPr>
            <a:r>
              <a:t>PART IV • TIER 3: DEEP CONVNET (1D CNN)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Manrope"/>
              </a:defRPr>
            </a:pPr>
            <a:r>
              <a:t>1D CNN Test Results &amp; Per-Class Performance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263640"/>
            <a:ext cx="10725912" cy="9144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Inter"/>
              </a:defRPr>
            </a:pPr>
            <a:r>
              <a:t>EE136: Machine Learning for Wireless Communications | Topic 1: Comprehensive Model Benchmark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355080"/>
            <a:ext cx="1856231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Manrope"/>
              </a:defRPr>
            </a:pPr>
            <a:r>
              <a:t>Slide 16 of 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34440"/>
            <a:ext cx="2496312" cy="1097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325880"/>
            <a:ext cx="231343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64748B"/>
                </a:solidFill>
                <a:latin typeface="Manrope"/>
              </a:defRPr>
            </a:pPr>
            <a:r>
              <a:t>TEST ACCURACY</a:t>
            </a:r>
          </a:p>
          <a:p>
            <a:pPr algn="ctr">
              <a:defRPr sz="2200" b="1">
                <a:solidFill>
                  <a:srgbClr val="EC4899"/>
                </a:solidFill>
                <a:latin typeface="Manrope"/>
              </a:defRPr>
            </a:pPr>
            <a:r>
              <a:t>39.22%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234440"/>
            <a:ext cx="2496312" cy="1097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1325880"/>
            <a:ext cx="231343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64748B"/>
                </a:solidFill>
                <a:latin typeface="Manrope"/>
              </a:defRPr>
            </a:pPr>
            <a:r>
              <a:t>MACRO-F1</a:t>
            </a:r>
          </a:p>
          <a:p>
            <a:pPr algn="ctr">
              <a:defRPr sz="2200" b="1">
                <a:solidFill>
                  <a:srgbClr val="0284C7"/>
                </a:solidFill>
                <a:latin typeface="Manrope"/>
              </a:defRPr>
            </a:pPr>
            <a:r>
              <a:t>35.97%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234440"/>
            <a:ext cx="2496312" cy="1097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325880"/>
            <a:ext cx="231343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64748B"/>
                </a:solidFill>
                <a:latin typeface="Manrope"/>
              </a:defRPr>
            </a:pPr>
            <a:r>
              <a:t>MODEL SIZE</a:t>
            </a:r>
          </a:p>
          <a:p>
            <a:pPr algn="ctr">
              <a:defRPr sz="2200" b="1">
                <a:solidFill>
                  <a:srgbClr val="10B981"/>
                </a:solidFill>
                <a:latin typeface="Manrope"/>
              </a:defRPr>
            </a:pPr>
            <a:r>
              <a:t>0.213 MB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1234440"/>
            <a:ext cx="2496312" cy="1097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0" y="1325880"/>
            <a:ext cx="231343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64748B"/>
                </a:solidFill>
                <a:latin typeface="Manrope"/>
              </a:defRPr>
            </a:pPr>
            <a:r>
              <a:t>LATENCY / SAMPLE</a:t>
            </a:r>
          </a:p>
          <a:p>
            <a:pPr algn="ctr">
              <a:defRPr sz="2200" b="1">
                <a:solidFill>
                  <a:srgbClr val="8B5CF6"/>
                </a:solidFill>
                <a:latin typeface="Manrope"/>
              </a:defRPr>
            </a:pPr>
            <a:r>
              <a:t>0.424 ms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514600"/>
            <a:ext cx="5166360" cy="3520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2651760"/>
            <a:ext cx="489204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284C7"/>
                </a:solidFill>
                <a:latin typeface="Manrope"/>
              </a:defRPr>
            </a:pPr>
            <a:r>
              <a:t>PER-CLASS F1-SCORE BREAKDOWN</a:t>
            </a:r>
          </a:p>
          <a:p>
            <a:pPr>
              <a:spcAft>
                <a:spcPts val="200"/>
              </a:spcAft>
            </a:pPr>
            <a:r>
              <a:rPr b="1" sz="1050">
                <a:solidFill>
                  <a:srgbClr val="0284C7"/>
                </a:solidFill>
              </a:rPr>
              <a:t>BPSK: </a:t>
            </a:r>
            <a:r>
              <a:rPr sz="1050">
                <a:solidFill>
                  <a:srgbClr val="0F172A"/>
                </a:solidFill>
              </a:rPr>
              <a:t>81% F1 - Exceptional binary phase separation</a:t>
            </a:r>
          </a:p>
          <a:p>
            <a:pPr>
              <a:spcAft>
                <a:spcPts val="200"/>
              </a:spcAft>
            </a:pPr>
            <a:r>
              <a:rPr b="1" sz="1050">
                <a:solidFill>
                  <a:srgbClr val="0284C7"/>
                </a:solidFill>
              </a:rPr>
              <a:t>QPSK: </a:t>
            </a:r>
            <a:r>
              <a:rPr sz="1050">
                <a:solidFill>
                  <a:srgbClr val="0F172A"/>
                </a:solidFill>
              </a:rPr>
              <a:t>53% F1 - Distinct quadrature alignment</a:t>
            </a:r>
          </a:p>
          <a:p>
            <a:pPr>
              <a:spcAft>
                <a:spcPts val="200"/>
              </a:spcAft>
            </a:pPr>
            <a:r>
              <a:rPr b="1" sz="1050">
                <a:solidFill>
                  <a:srgbClr val="0284C7"/>
                </a:solidFill>
              </a:rPr>
              <a:t>8PSK: </a:t>
            </a:r>
            <a:r>
              <a:rPr sz="1050">
                <a:solidFill>
                  <a:srgbClr val="0F172A"/>
                </a:solidFill>
              </a:rPr>
              <a:t>35% F1 - Moderate rotational separation</a:t>
            </a:r>
          </a:p>
          <a:p>
            <a:pPr>
              <a:spcAft>
                <a:spcPts val="200"/>
              </a:spcAft>
            </a:pPr>
            <a:r>
              <a:rPr b="1" sz="1050">
                <a:solidFill>
                  <a:srgbClr val="0284C7"/>
                </a:solidFill>
              </a:rPr>
              <a:t>16QAM: </a:t>
            </a:r>
            <a:r>
              <a:rPr sz="1050">
                <a:solidFill>
                  <a:srgbClr val="0F172A"/>
                </a:solidFill>
              </a:rPr>
              <a:t>35% F1 - Amplitude lattice partially resolved</a:t>
            </a:r>
          </a:p>
          <a:p>
            <a:pPr>
              <a:spcAft>
                <a:spcPts val="200"/>
              </a:spcAft>
            </a:pPr>
            <a:r>
              <a:rPr b="1" sz="1050">
                <a:solidFill>
                  <a:srgbClr val="0284C7"/>
                </a:solidFill>
              </a:rPr>
              <a:t>256QAM: </a:t>
            </a:r>
            <a:r>
              <a:rPr sz="1050">
                <a:solidFill>
                  <a:srgbClr val="0F172A"/>
                </a:solidFill>
              </a:rPr>
              <a:t>33% F1 - Multi-ring cluster identification</a:t>
            </a:r>
          </a:p>
          <a:p>
            <a:pPr>
              <a:spcAft>
                <a:spcPts val="200"/>
              </a:spcAft>
            </a:pPr>
            <a:r>
              <a:rPr b="1" sz="1050">
                <a:solidFill>
                  <a:srgbClr val="0284C7"/>
                </a:solidFill>
              </a:rPr>
              <a:t>32PSK: </a:t>
            </a:r>
            <a:r>
              <a:rPr sz="1050">
                <a:solidFill>
                  <a:srgbClr val="0F172A"/>
                </a:solidFill>
              </a:rPr>
              <a:t>31% F1 - Highly dense phase ambiguity</a:t>
            </a:r>
          </a:p>
          <a:p>
            <a:pPr>
              <a:spcAft>
                <a:spcPts val="200"/>
              </a:spcAft>
            </a:pPr>
            <a:r>
              <a:rPr b="1" sz="1050">
                <a:solidFill>
                  <a:srgbClr val="0284C7"/>
                </a:solidFill>
              </a:rPr>
              <a:t>16PSK: </a:t>
            </a:r>
            <a:r>
              <a:rPr sz="1050">
                <a:solidFill>
                  <a:srgbClr val="0F172A"/>
                </a:solidFill>
              </a:rPr>
              <a:t>14% F1 - Compressed phase margins</a:t>
            </a:r>
          </a:p>
          <a:p>
            <a:pPr>
              <a:spcAft>
                <a:spcPts val="200"/>
              </a:spcAft>
            </a:pPr>
            <a:r>
              <a:rPr b="1" sz="1050">
                <a:solidFill>
                  <a:srgbClr val="0284C7"/>
                </a:solidFill>
              </a:rPr>
              <a:t>64QAM: </a:t>
            </a:r>
            <a:r>
              <a:rPr sz="1050">
                <a:solidFill>
                  <a:srgbClr val="0F172A"/>
                </a:solidFill>
              </a:rPr>
              <a:t>5% F1 - Severe mid-lattice ambiguity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91072" y="2514600"/>
            <a:ext cx="5166360" cy="3520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2651760"/>
            <a:ext cx="489204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2563EB"/>
                </a:solidFill>
                <a:latin typeface="Manrope"/>
              </a:defRPr>
            </a:pPr>
            <a:r>
              <a:t>DIAGNOSTIC HIGHLIGHTS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0284C7"/>
                </a:solidFill>
              </a:rPr>
              <a:t>BPSK Dominance: </a:t>
            </a:r>
            <a:r>
              <a:rPr sz="1050">
                <a:solidFill>
                  <a:srgbClr val="0F172A"/>
                </a:solidFill>
              </a:rPr>
              <a:t>BPSK recognized most reliably (F1 = 0.81) due to clean 180° antipodal phase alignment.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0284C7"/>
                </a:solidFill>
              </a:rPr>
              <a:t>Quadrature Sensitivity: </a:t>
            </a:r>
            <a:r>
              <a:rPr sz="1050">
                <a:solidFill>
                  <a:srgbClr val="0F172A"/>
                </a:solidFill>
              </a:rPr>
              <a:t>QPSK achieves F1 = 0.53, separating cleanly from higher PSK orders.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0284C7"/>
                </a:solidFill>
              </a:rPr>
              <a:t>QAM Constellation Blurring: </a:t>
            </a:r>
            <a:r>
              <a:rPr sz="1050">
                <a:solidFill>
                  <a:srgbClr val="0F172A"/>
                </a:solidFill>
              </a:rPr>
              <a:t>64QAM exhibits low F1 (0.05) because short L=128 bursts do not provide enough symbol transitions to distinguish 64 states from 16/256 states under multipath fading.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0284C7"/>
                </a:solidFill>
              </a:rPr>
              <a:t>Raw I/Q Feature Learning: </a:t>
            </a:r>
            <a:r>
              <a:rPr sz="1050">
                <a:solidFill>
                  <a:srgbClr val="0F172A"/>
                </a:solidFill>
              </a:rPr>
              <a:t>Unlike feature-based models that cannot distinguish 8PSK from 16PSK, 1D CNN preserves phase trajectories across adjacent temporal samples!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9260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Manrope"/>
              </a:defRPr>
            </a:pPr>
            <a:r>
              <a:t>PART IV • TIER 3: DEEP CONVNET (1D CNN)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Manrope"/>
              </a:defRPr>
            </a:pPr>
            <a:r>
              <a:t>1D CNN Noise Robustness &amp; Phase Trajectory Exploitation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263640"/>
            <a:ext cx="10725912" cy="9144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Inter"/>
              </a:defRPr>
            </a:pPr>
            <a:r>
              <a:t>EE136: Machine Learning for Wireless Communications | Topic 1: Comprehensive Model Benchmark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355080"/>
            <a:ext cx="1856231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Manrope"/>
              </a:defRPr>
            </a:pPr>
            <a:r>
              <a:t>Slide 17 of 20</a:t>
            </a:r>
          </a:p>
        </p:txBody>
      </p:sp>
      <p:pic>
        <p:nvPicPr>
          <p:cNvPr id="7" name="Picture 6" descr="cnn_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6858000" cy="48006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772400" y="1234440"/>
            <a:ext cx="3685032" cy="4800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09560" y="1371600"/>
            <a:ext cx="3410712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284C7"/>
                </a:solidFill>
                <a:latin typeface="Manrope"/>
              </a:defRPr>
            </a:pPr>
            <a:r>
              <a:t>How 1D CNN Breaks the Ceiling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284C7"/>
                </a:solidFill>
              </a:rPr>
              <a:t>The Feature Wall: </a:t>
            </a:r>
            <a:r>
              <a:rPr sz="1100">
                <a:solidFill>
                  <a:srgbClr val="0F172A"/>
                </a:solidFill>
              </a:rPr>
              <a:t>Random Forest and MLP flatten near 48.25% because cumulants up to order 6 are identical across higher PSK schemes (|C40|=0).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284C7"/>
                </a:solidFill>
              </a:rPr>
              <a:t>Temporal Convolution Advantage: </a:t>
            </a:r>
            <a:r>
              <a:rPr sz="1100">
                <a:solidFill>
                  <a:srgbClr val="0F172A"/>
                </a:solidFill>
              </a:rPr>
              <a:t>1D CNN applies 1D temporal kernels (k=5) directly across baseband samples, learning continuous phase trajectory curves.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284C7"/>
                </a:solidFill>
              </a:rPr>
              <a:t>High-SNR Breakthrough: </a:t>
            </a:r>
            <a:r>
              <a:rPr sz="1100">
                <a:solidFill>
                  <a:srgbClr val="0F172A"/>
                </a:solidFill>
              </a:rPr>
              <a:t>At +14 dB: reaches 53.13%.
At +18 dB: reaches 55.10%.
Surpasses both feature models by +5.0% to +6.8%!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284C7"/>
                </a:solidFill>
              </a:rPr>
              <a:t>Noise Scaling: </a:t>
            </a:r>
            <a:r>
              <a:rPr sz="1100">
                <a:solidFill>
                  <a:srgbClr val="0F172A"/>
                </a:solidFill>
              </a:rPr>
              <a:t>Performance scales monotonically from ~14% at -10 dB to 55.10% at +18 dB without artificial plateauing.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9260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Manrope"/>
              </a:defRPr>
            </a:pPr>
            <a:r>
              <a:t>PART V • THREE-TIER BENCHMARK 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Manrope"/>
              </a:defRPr>
            </a:pPr>
            <a:r>
              <a:t>Comprehensive Accuracy vs. SNR Overlay Across All Three Model Tiers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263640"/>
            <a:ext cx="10725912" cy="9144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Inter"/>
              </a:defRPr>
            </a:pPr>
            <a:r>
              <a:t>EE136: Machine Learning for Wireless Communications | Topic 1: Comprehensive Model Benchmark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355080"/>
            <a:ext cx="1856231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Manrope"/>
              </a:defRPr>
            </a:pPr>
            <a:r>
              <a:t>Slide 18 of 20</a:t>
            </a:r>
          </a:p>
        </p:txBody>
      </p:sp>
      <p:pic>
        <p:nvPicPr>
          <p:cNvPr id="7" name="Picture 6" descr="benchmark_accuracy_vs_sn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6858000" cy="48006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772400" y="1234440"/>
            <a:ext cx="3685032" cy="4800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09560" y="1371600"/>
            <a:ext cx="3410712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284C7"/>
                </a:solidFill>
                <a:latin typeface="Manrope"/>
              </a:defRPr>
            </a:pPr>
            <a:r>
              <a:t>Three-Tier Comparative Findings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284C7"/>
                </a:solidFill>
              </a:rPr>
              <a:t>Low SNR (Below 0 dB): </a:t>
            </a:r>
            <a:r>
              <a:rPr sz="1100">
                <a:solidFill>
                  <a:srgbClr val="0F172A"/>
                </a:solidFill>
              </a:rPr>
              <a:t>All 3 tiers bounded by Gaussian noise floor (~14% to 26%). Noise drowns both hand-crafted features and raw waveforms.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284C7"/>
                </a:solidFill>
              </a:rPr>
              <a:t>Crossover Point (+2 dB): </a:t>
            </a:r>
            <a:r>
              <a:rPr sz="1100">
                <a:solidFill>
                  <a:srgbClr val="0F172A"/>
                </a:solidFill>
              </a:rPr>
              <a:t>At SNR &gt;= +2 dB, 1D CNN overtakes both Random Forest and 3-Layer MLP, widening its lead as SNR improves.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284C7"/>
                </a:solidFill>
              </a:rPr>
              <a:t>High SNR Ceiling (+8 to +18 dB): </a:t>
            </a:r>
            <a:r>
              <a:rPr sz="1100">
                <a:solidFill>
                  <a:srgbClr val="0F172A"/>
                </a:solidFill>
              </a:rPr>
              <a:t>Random Forest and MLP saturate at ~48.25% due to cumulant degeneration. 1D CNN climbs steadily to 55.10%.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284C7"/>
                </a:solidFill>
              </a:rPr>
              <a:t>Core Takeaway: </a:t>
            </a:r>
            <a:r>
              <a:rPr sz="1100">
                <a:solidFill>
                  <a:srgbClr val="0F172A"/>
                </a:solidFill>
              </a:rPr>
              <a:t>Raw deep learning overcomes the mathematical information bottleneck inherent in hand-crafted cumulant features!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9260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Manrope"/>
              </a:defRPr>
            </a:pPr>
            <a:r>
              <a:t>PART V • THREE-TIER BENCHMARK 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Manrope"/>
              </a:defRPr>
            </a:pPr>
            <a:r>
              <a:t>Hardware Latency Profiling &amp; Edge Deployment Trade-offs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263640"/>
            <a:ext cx="10725912" cy="9144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Inter"/>
              </a:defRPr>
            </a:pPr>
            <a:r>
              <a:t>EE136: Machine Learning for Wireless Communications | Topic 1: Comprehensive Model Benchmark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355080"/>
            <a:ext cx="1856231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Manrope"/>
              </a:defRPr>
            </a:pPr>
            <a:r>
              <a:t>Slide 19 of 20</a:t>
            </a:r>
          </a:p>
        </p:txBody>
      </p:sp>
      <p:pic>
        <p:nvPicPr>
          <p:cNvPr id="7" name="Picture 6" descr="mlp_image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6400800" cy="48006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0" y="1234440"/>
            <a:ext cx="4142232" cy="4800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52360" y="1371600"/>
            <a:ext cx="3867912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2563EB"/>
                </a:solidFill>
                <a:latin typeface="Manrope"/>
              </a:defRPr>
            </a:pPr>
            <a:r>
              <a:t>Edge Deployment Suitability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284C7"/>
                </a:solidFill>
              </a:rPr>
              <a:t>5G TTI Frame Budget: </a:t>
            </a:r>
            <a:r>
              <a:rPr sz="1100">
                <a:solidFill>
                  <a:srgbClr val="0F172A"/>
                </a:solidFill>
              </a:rPr>
              <a:t>Strict 1,000 µs (1.0 ms) processing deadline per radio frame.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284C7"/>
                </a:solidFill>
              </a:rPr>
              <a:t>Tier 2 (MLP) - MCU Champion: </a:t>
            </a:r>
            <a:r>
              <a:rPr sz="1100">
                <a:solidFill>
                  <a:srgbClr val="0F172A"/>
                </a:solidFill>
              </a:rPr>
              <a:t>Batched: 0.71 µs | Single: ~36 µs. Ultra-compact (52.5 KB). 1,400x faster than 5G deadline! Ideal for low-power IoT microcontrollers.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284C7"/>
                </a:solidFill>
              </a:rPr>
              <a:t>Tier 3 (1D CNN) - SDR Accelerator: </a:t>
            </a:r>
            <a:r>
              <a:rPr sz="1100">
                <a:solidFill>
                  <a:srgbClr val="0F172A"/>
                </a:solidFill>
              </a:rPr>
              <a:t>Latency ~424 µs (single-burst). Fits comfortably within 1.0 ms budget. Compact size (0.213 MB). Ideal for FPGA / SDR hardware.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284C7"/>
                </a:solidFill>
              </a:rPr>
              <a:t>Tier 1 (Random Forest) - Server Only: </a:t>
            </a:r>
            <a:r>
              <a:rPr sz="1100">
                <a:solidFill>
                  <a:srgbClr val="0F172A"/>
                </a:solidFill>
              </a:rPr>
              <a:t>Latency ~280 µs. However, 999.7 MB file size makes it impossible for edge microcontrollers. Restricted to cloud/baseband servers.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9260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Manrope"/>
              </a:defRPr>
            </a:pPr>
            <a:r>
              <a:t>PART V • EXECUTIVE SUMMARY &amp;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Manrope"/>
              </a:defRPr>
            </a:pPr>
            <a:r>
              <a:t>Project Deliverable Handoff: Comprehensive Three-Tier Benchmark Matrix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263640"/>
            <a:ext cx="10725912" cy="9144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Inter"/>
              </a:defRPr>
            </a:pPr>
            <a:r>
              <a:t>EE136: Machine Learning for Wireless Communications | Topic 1: Comprehensive Model Benchmark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355080"/>
            <a:ext cx="1856231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Manrope"/>
              </a:defRPr>
            </a:pPr>
            <a:r>
              <a:t>Slide 20 of 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34440"/>
            <a:ext cx="10725912" cy="32918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914400" y="1325880"/>
          <a:ext cx="10360152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9192"/>
                <a:gridCol w="2560320"/>
                <a:gridCol w="2560320"/>
                <a:gridCol w="2560320"/>
              </a:tblGrid>
              <a:tr h="382905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anrope"/>
                        </a:defRPr>
                      </a:pPr>
                      <a:r>
                        <a:t>ENGINEERING METRIC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anrope"/>
                        </a:defRPr>
                      </a:pPr>
                      <a:r>
                        <a:t>TIER 1: CLASSICAL ML (RF)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anrope"/>
                        </a:defRPr>
                      </a:pPr>
                      <a:r>
                        <a:t>TIER 2: NEURAL NET (MLP)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anrope"/>
                        </a:defRPr>
                      </a:pPr>
                      <a:r>
                        <a:t>TIER 3: DEEP LEARNING (1D CNN)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82905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Input Representation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18 Domain Features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18 Normalized Domain Features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284C7"/>
                          </a:solidFill>
                          <a:latin typeface="Inter"/>
                        </a:defRPr>
                      </a:pPr>
                      <a:r>
                        <a:t>Raw Baseband I/Q [2, 128]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2905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Overall Test Accuracy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33.83%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35.17%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284C7"/>
                          </a:solidFill>
                          <a:latin typeface="Inter"/>
                        </a:defRPr>
                      </a:pPr>
                      <a:r>
                        <a:t>44.00% (Highest Overall)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82905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Peak High-SNR Accuracy (+18 dB)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50.10%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48.25% (Feature Ceiling)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284C7"/>
                          </a:solidFill>
                          <a:latin typeface="Inter"/>
                        </a:defRPr>
                      </a:pPr>
                      <a:r>
                        <a:t>55.10% (Breaks Ceiling!)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2905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Macro-F1 Score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33.48%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34.82%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284C7"/>
                          </a:solidFill>
                          <a:latin typeface="Inter"/>
                        </a:defRPr>
                      </a:pPr>
                      <a:r>
                        <a:t>35.97% (Most Balanced)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82905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Trainable Parameters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140,572,728 tree nodes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11,592 parameters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284C7"/>
                          </a:solidFill>
                          <a:latin typeface="Inter"/>
                        </a:defRPr>
                      </a:pPr>
                      <a:r>
                        <a:t>53,224 parameters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2905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Model Checkpoint Size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999.7 MB (Parameter Explosion)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52.5 KB (Ultra Compact)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284C7"/>
                          </a:solidFill>
                          <a:latin typeface="Inter"/>
                        </a:defRPr>
                      </a:pPr>
                      <a:r>
                        <a:t>0.213 MB (Compact ConvNet)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82905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Single-Burst Latency (B=1)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~280 µs (Satisfies 5G)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~36 µs (Ultra Fast / MCU)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284C7"/>
                          </a:solidFill>
                          <a:latin typeface="Inter"/>
                        </a:defRPr>
                      </a:pPr>
                      <a:r>
                        <a:t>~424 µs (Satisfies 5G / SDR)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31520" y="4709160"/>
            <a:ext cx="5166360" cy="1325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773168"/>
            <a:ext cx="4892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284C7"/>
                </a:solidFill>
                <a:latin typeface="Manrope"/>
              </a:defRPr>
            </a:pPr>
            <a:r>
              <a:t>Research Question Answered</a:t>
            </a:r>
          </a:p>
          <a:p>
            <a:pPr>
              <a:defRPr sz="950">
                <a:solidFill>
                  <a:srgbClr val="0F172A"/>
                </a:solidFill>
                <a:latin typeface="Inter"/>
              </a:defRPr>
            </a:pPr>
            <a:r>
              <a:t>Does raw deep learning outperform hand-crafted features in AMC? YES. 1D CNN achieves 44.00% overall (vs 33.8% RF, 35.2% MLP) and reaches 55.10% at high SNR by exploiting temporal phase trajectory dynamics lost in static statistical cumulants.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91072" y="4709160"/>
            <a:ext cx="5166360" cy="1325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4773168"/>
            <a:ext cx="4892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0B981"/>
                </a:solidFill>
                <a:latin typeface="Manrope"/>
              </a:defRPr>
            </a:pPr>
            <a:r>
              <a:t>Deployment Recommendations</a:t>
            </a:r>
          </a:p>
          <a:p>
            <a:pPr>
              <a:defRPr sz="950">
                <a:solidFill>
                  <a:srgbClr val="0F172A"/>
                </a:solidFill>
                <a:latin typeface="Inter"/>
              </a:defRPr>
            </a:pPr>
            <a:r>
              <a:t>• For Ultra-Low-Power Edge IoT / MCU: Deploy 3-Layer MLP (0.05 MB, ~36 µs latency).</a:t>
            </a:r>
            <a:br/>
            <a:r>
              <a:t>• For High-Performance SDR Baseband: Deploy 1D CNN (0.21 MB, 55.1% accuracy, ~424 µs).</a:t>
            </a:r>
            <a:br/>
            <a:r>
              <a:t>• Avoid Random Forest on edge hardware due to 1 GB memory parameter explosion.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