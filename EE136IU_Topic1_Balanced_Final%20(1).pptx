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024128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078992"/>
            <a:ext cx="9098280" cy="320040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Manrope"/>
              </a:rPr>
              <a:t>EE136  •  MACHINE LEARNING FOR WIRELESS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527048"/>
            <a:ext cx="9235440" cy="685800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Manrope"/>
              </a:rPr>
              <a:t>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31720"/>
            <a:ext cx="9235440" cy="457200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000" b="1">
                <a:solidFill>
                  <a:srgbClr val="40BEFF"/>
                </a:solidFill>
                <a:latin typeface="Manrope"/>
              </a:rPr>
              <a:t>Classical ML  vs.  3-Layer MLP  vs.  1D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44368"/>
            <a:ext cx="9144000" cy="457200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400" b="0">
                <a:solidFill>
                  <a:srgbClr val="C2CFE2"/>
                </a:solidFill>
                <a:latin typeface="Inter"/>
              </a:rPr>
              <a:t>Automatic Modulation Classification · Benchmark across 8 digital modulation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630168"/>
            <a:ext cx="9025128" cy="10972"/>
          </a:xfrm>
          <a:prstGeom prst="rect">
            <a:avLst/>
          </a:prstGeom>
          <a:solidFill>
            <a:srgbClr val="355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17320" y="4005072"/>
            <a:ext cx="2075688" cy="1298448"/>
          </a:xfrm>
          <a:prstGeom prst="roundRect">
            <a:avLst/>
          </a:prstGeom>
          <a:solidFill>
            <a:srgbClr val="1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5336" y="4133087"/>
            <a:ext cx="1783080" cy="521207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anrope"/>
              </a:rPr>
              <a:t>96,000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4681728"/>
            <a:ext cx="1792224" cy="301752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270" b="0">
                <a:solidFill>
                  <a:srgbClr val="AAC0D7"/>
                </a:solidFill>
                <a:latin typeface="Inter"/>
              </a:rPr>
              <a:t>I/Q bursts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2" y="4005072"/>
            <a:ext cx="2075688" cy="1298448"/>
          </a:xfrm>
          <a:prstGeom prst="roundRect">
            <a:avLst/>
          </a:prstGeom>
          <a:solidFill>
            <a:srgbClr val="1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3048" y="4133087"/>
            <a:ext cx="1783080" cy="521207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anrope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4681728"/>
            <a:ext cx="1792224" cy="301752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270" b="0">
                <a:solidFill>
                  <a:srgbClr val="AAC0D7"/>
                </a:solidFill>
                <a:latin typeface="Inter"/>
              </a:rPr>
              <a:t>modulation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4005072"/>
            <a:ext cx="2075688" cy="1298448"/>
          </a:xfrm>
          <a:prstGeom prst="roundRect">
            <a:avLst/>
          </a:prstGeom>
          <a:solidFill>
            <a:srgbClr val="1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59" y="4133087"/>
            <a:ext cx="1783080" cy="521207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anrope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4681728"/>
            <a:ext cx="1792224" cy="301752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270" b="0">
                <a:solidFill>
                  <a:srgbClr val="AAC0D7"/>
                </a:solidFill>
                <a:latin typeface="Inter"/>
              </a:rPr>
              <a:t>SNR operating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4005072"/>
            <a:ext cx="2075688" cy="1298448"/>
          </a:xfrm>
          <a:prstGeom prst="roundRect">
            <a:avLst/>
          </a:prstGeom>
          <a:solidFill>
            <a:srgbClr val="1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4133087"/>
            <a:ext cx="1783080" cy="521207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4681728"/>
            <a:ext cx="1792224" cy="301752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270" b="0">
                <a:solidFill>
                  <a:srgbClr val="AAC0D7"/>
                </a:solidFill>
                <a:latin typeface="Inter"/>
              </a:rPr>
              <a:t>model families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 • BASEBAND WIRELESS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Baseband Physics: AMC Problem &amp; Constellation Clouds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2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108960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Physical Layer Problem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INPUT: </a:t>
            </a:r>
            <a:r>
              <a:rPr sz="1460" b="0">
                <a:solidFill>
                  <a:srgbClr val="0F172A"/>
                </a:solidFill>
                <a:latin typeface="Inter"/>
              </a:rPr>
              <a:t>One short burst of 128 complex samples: r[n] = I[n] + jQ[n].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8 CLASSES: </a:t>
            </a:r>
            <a:r>
              <a:rPr sz="1460" b="0">
                <a:solidFill>
                  <a:srgbClr val="0F172A"/>
                </a:solidFill>
                <a:latin typeface="Inter"/>
              </a:rPr>
              <a:t>5 PSK types (BPSK–32PSK) and 3 QAM types (16–256QAM).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CHANNELS: </a:t>
            </a:r>
            <a:r>
              <a:rPr sz="1460" b="0">
                <a:solidFill>
                  <a:srgbClr val="0F172A"/>
                </a:solidFill>
                <a:latin typeface="Inter"/>
              </a:rPr>
              <a:t>AWGN noise and Rayleigh 3-tap multipath fading.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LOW-SNR EFFECT: </a:t>
            </a:r>
            <a:r>
              <a:rPr sz="1460" b="0">
                <a:solidFill>
                  <a:srgbClr val="0F172A"/>
                </a:solidFill>
                <a:latin typeface="Inter"/>
              </a:rPr>
              <a:t>At −4 dB, constellation clouds strongly overlap; classification is difficult.</a:t>
            </a:r>
          </a:p>
        </p:txBody>
      </p:sp>
      <p:pic>
        <p:nvPicPr>
          <p:cNvPr id="9" name="Picture 8" descr="mlp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Manrope"/>
              </a:rPr>
              <a:t>PART I • FEATURE ENGINEERING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Manrope"/>
              </a:rPr>
              <a:t>From Raw I/Q to 18 Features: Why Compare with CNN?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3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35608"/>
            <a:ext cx="2990088" cy="44805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Raw I/Q → 18 Domain Features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375" b="1">
                <a:solidFill>
                  <a:srgbClr val="0284C7"/>
                </a:solidFill>
                <a:latin typeface="Inter"/>
              </a:rPr>
              <a:t>INPUT: </a:t>
            </a:r>
            <a:r>
              <a:rPr sz="1375" b="0">
                <a:solidFill>
                  <a:srgbClr val="0F172A"/>
                </a:solidFill>
                <a:latin typeface="Inter"/>
              </a:rPr>
              <a:t>128 complex samples = 256 real values.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375" b="1">
                <a:solidFill>
                  <a:srgbClr val="0284C7"/>
                </a:solidFill>
                <a:latin typeface="Inter"/>
              </a:rPr>
              <a:t>FEATURE SET: </a:t>
            </a:r>
            <a:r>
              <a:rPr sz="1375" b="0">
                <a:solidFill>
                  <a:srgbClr val="0F172A"/>
                </a:solidFill>
                <a:latin typeface="Inter"/>
              </a:rPr>
              <a:t>9 cumulants, 2 envelope/PAPR and 7 spectral/phase statistics.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375" b="1">
                <a:solidFill>
                  <a:srgbClr val="0284C7"/>
                </a:solidFill>
                <a:latin typeface="Inter"/>
              </a:rPr>
              <a:t>LIMITATION: </a:t>
            </a:r>
            <a:r>
              <a:rPr sz="1375" b="0">
                <a:solidFill>
                  <a:srgbClr val="0F172A"/>
                </a:solidFill>
                <a:latin typeface="Inter"/>
              </a:rPr>
              <a:t>Higher-order PSK and QAM clusters overlap in feature space.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>
                <a:solidFill>
                  <a:srgbClr val="0284C7"/>
                </a:solidFill>
                <a:latin typeface="Inter"/>
              </a:rPr>
              <a:t>WHY 1D CNN?: </a:t>
            </a:r>
            <a:r>
              <a:rPr sz="1375" b="0">
                <a:solidFill>
                  <a:srgbClr val="0F172A"/>
                </a:solidFill>
                <a:latin typeface="Inter"/>
              </a:rPr>
              <a:t>It learns temporal patterns directly from raw I/Q rather than hand-crafted features.</a:t>
            </a:r>
          </a:p>
        </p:txBody>
      </p:sp>
      <p:pic>
        <p:nvPicPr>
          <p:cNvPr id="9" name="Picture 8" descr="mlp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Tier 1 Architecture: Random Forest (Bagging) vs. SVM (RBF Kernel)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4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892040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10B981"/>
                </a:solidFill>
                <a:latin typeface="Manrope"/>
              </a:defRPr>
            </a:pPr>
            <a:r>
              <a:rPr sz="1820" b="1">
                <a:solidFill>
                  <a:srgbClr val="059669"/>
                </a:solidFill>
                <a:latin typeface="Manrope"/>
              </a:rPr>
              <a:t>Random Forest · 200 Trees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METHOD: </a:t>
            </a:r>
            <a:r>
              <a:rPr sz="1620" b="0">
                <a:solidFill>
                  <a:srgbClr val="0F172A"/>
                </a:solidFill>
                <a:latin typeface="Inter"/>
              </a:rPr>
              <a:t>Bootstrap aggregation with Gini-impurity splits.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INPUT: </a:t>
            </a:r>
            <a:r>
              <a:rPr sz="1620" b="0">
                <a:solidFill>
                  <a:srgbClr val="0F172A"/>
                </a:solidFill>
                <a:latin typeface="Inter"/>
              </a:rPr>
              <a:t>18 engineered features from 67,200 training bursts.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COMPLEXITY: </a:t>
            </a:r>
            <a:r>
              <a:rPr sz="1620" b="0">
                <a:solidFill>
                  <a:srgbClr val="0F172A"/>
                </a:solidFill>
                <a:latin typeface="Inter"/>
              </a:rPr>
              <a:t>~140.6 million decision-tree nodes.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MODEL SIZE: </a:t>
            </a:r>
            <a:r>
              <a:rPr sz="1620" b="0">
                <a:solidFill>
                  <a:srgbClr val="0F172A"/>
                </a:solidFill>
                <a:latin typeface="Inter"/>
              </a:rPr>
              <a:t>999.7 MB on disk.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TRAINING: </a:t>
            </a:r>
            <a:r>
              <a:rPr sz="1620" b="0">
                <a:solidFill>
                  <a:srgbClr val="0F172A"/>
                </a:solidFill>
                <a:latin typeface="Inter"/>
              </a:rPr>
              <a:t>121.03 seconds on CPU.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INFERENCE: </a:t>
            </a:r>
            <a:r>
              <a:rPr sz="1620" b="0">
                <a:solidFill>
                  <a:srgbClr val="0F172A"/>
                </a:solidFill>
                <a:latin typeface="Inter"/>
              </a:rPr>
              <a:t>~0.28 ms per burst: fast, but memory-heavy.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371600"/>
            <a:ext cx="4892040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rPr sz="1820" b="1">
                <a:solidFill>
                  <a:srgbClr val="2563EB"/>
                </a:solidFill>
                <a:latin typeface="Manrope"/>
              </a:rPr>
              <a:t>SVM · RBF Kernel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METHOD: </a:t>
            </a:r>
            <a:r>
              <a:rPr sz="1620" b="0">
                <a:solidFill>
                  <a:srgbClr val="0F172A"/>
                </a:solidFill>
                <a:latin typeface="Inter"/>
              </a:rPr>
              <a:t>Nonlinear maximum-margin classification.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KERNEL: </a:t>
            </a:r>
            <a:r>
              <a:rPr sz="1620" b="0">
                <a:solidFill>
                  <a:srgbClr val="0F172A"/>
                </a:solidFill>
                <a:latin typeface="Inter"/>
              </a:rPr>
              <a:t>RBF, C = 10, gamma = scale.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COMPLEXITY: </a:t>
            </a:r>
            <a:r>
              <a:rPr sz="1620" b="0">
                <a:solidFill>
                  <a:srgbClr val="0F172A"/>
                </a:solidFill>
                <a:latin typeface="Inter"/>
              </a:rPr>
              <a:t>57,531 support vectors (~1.04M coefficients).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MODEL SIZE: </a:t>
            </a:r>
            <a:r>
              <a:rPr sz="1620" b="0">
                <a:solidFill>
                  <a:srgbClr val="0F172A"/>
                </a:solidFill>
                <a:latin typeface="Inter"/>
              </a:rPr>
              <a:t>14.96 MB on disk.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TRAINING: </a:t>
            </a:r>
            <a:r>
              <a:rPr sz="1620" b="0">
                <a:solidFill>
                  <a:srgbClr val="0F172A"/>
                </a:solidFill>
                <a:latin typeface="Inter"/>
              </a:rPr>
              <a:t>1,788.23 seconds on CPU.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284C7"/>
                </a:solidFill>
                <a:latin typeface="Inter"/>
              </a:rPr>
              <a:t>INFERENCE: </a:t>
            </a:r>
            <a:r>
              <a:rPr sz="1620" b="0">
                <a:solidFill>
                  <a:srgbClr val="0F172A"/>
                </a:solidFill>
                <a:latin typeface="Inter"/>
              </a:rPr>
              <a:t>~9.70 ms per burst: compact, but slower.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Classical ML: Compute, Memory &amp;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5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1035100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60" b="1">
                          <a:latin typeface="Inter"/>
                        </a:rPr>
                        <a:t>Metric / Specification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60" b="1">
                          <a:latin typeface="Inter"/>
                        </a:rPr>
                        <a:t>Random Forest (RF)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60" b="1">
                          <a:latin typeface="Inter"/>
                        </a:rPr>
                        <a:t>SVM (RBF Kernel)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60" b="1">
                          <a:latin typeface="Inter"/>
                        </a:rPr>
                        <a:t>Comparison (RF vs. SVM)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60" b="1">
                          <a:latin typeface="Inter"/>
                        </a:rPr>
                        <a:t>Engineering Impact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50" b="1">
                          <a:latin typeface="Inter"/>
                        </a:rPr>
                        <a:t>Training Duration (CPU)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121.03 s (~2.0 min)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1,788.23 s (~29.8 min)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SVM is 14.8x slower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enables rapid retraining on SDR nodes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50" b="1">
                          <a:latin typeface="Inter"/>
                        </a:rPr>
                        <a:t>Trainable Parameters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140,572,728 tree nodes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1,035,568 SV weights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has 135x more params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suffers severe parameter explosion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50" b="1">
                          <a:latin typeface="Inter"/>
                        </a:rPr>
                        <a:t>Checkpoint File Size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999.7 MB (0.98 GB)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14.96 MB (0.015 GB)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is 66x larger on disk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SVM fits on flash; RF requires large DRAM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50" b="1">
                          <a:latin typeface="Inter"/>
                        </a:rPr>
                        <a:t>Single-Burst Latency (B=1)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~280 µs (0.28 ms)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~9,700 µs (9.70 ms)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is 35x faster in infer.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rPr sz="1140" b="0">
                          <a:latin typeface="Inter"/>
                        </a:rPr>
                        <a:t>RF satisfies 5G 1ms budget; SVM FAILS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4892040" cy="19659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250" b="1">
                <a:solidFill>
                  <a:srgbClr val="D97706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Why RF Is Favored over SVM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SVM BOTTLENECK: </a:t>
            </a:r>
            <a:r>
              <a:rPr sz="1340" b="0">
                <a:solidFill>
                  <a:srgbClr val="0F172A"/>
                </a:solidFill>
                <a:latin typeface="Inter"/>
              </a:rPr>
              <a:t>~9.7 ms per burst versus ~0.28 ms for RF.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SAME ACCURACY: </a:t>
            </a:r>
            <a:r>
              <a:rPr sz="1340" b="0">
                <a:solidFill>
                  <a:srgbClr val="0F172A"/>
                </a:solidFill>
                <a:latin typeface="Inter"/>
              </a:rPr>
              <a:t>Both baselines achieve approximately 33.8% overall in this experiment.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DECISION: </a:t>
            </a:r>
            <a:r>
              <a:rPr sz="1340" b="0">
                <a:solidFill>
                  <a:srgbClr val="0F172A"/>
                </a:solidFill>
                <a:latin typeface="Inter"/>
              </a:rPr>
              <a:t>RF offers much faster inference, at a major memory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3977639"/>
            <a:ext cx="4892040" cy="19659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250" b="1">
                <a:solidFill>
                  <a:srgbClr val="10B981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RF: Fast Inference, Large Footprint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TREE LOOKUPS: </a:t>
            </a:r>
            <a:r>
              <a:rPr sz="1340" b="0">
                <a:solidFill>
                  <a:srgbClr val="0F172A"/>
                </a:solidFill>
                <a:latin typeface="Inter"/>
              </a:rPr>
              <a:t>Inference uses threshold comparisons rather than RBF kernel evaluations.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DASHBOARD: </a:t>
            </a:r>
            <a:r>
              <a:rPr sz="1340" b="0">
                <a:solidFill>
                  <a:srgbClr val="0F172A"/>
                </a:solidFill>
                <a:latin typeface="Inter"/>
              </a:rPr>
              <a:t>~280 µs per burst suits interactive predictions.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TRADE-OFF: </a:t>
            </a:r>
            <a:r>
              <a:rPr sz="1340" b="0">
                <a:solidFill>
                  <a:srgbClr val="0F172A"/>
                </a:solidFill>
                <a:latin typeface="Inter"/>
              </a:rPr>
              <a:t>Nearly 1 GB checkpoint makes small-device deployment difficult.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Classical ML: Accuracy &amp; Macro-F1 vs. SNR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6 of 19</a:t>
            </a:r>
          </a:p>
        </p:txBody>
      </p:sp>
      <p:pic>
        <p:nvPicPr>
          <p:cNvPr id="7" name="Picture 6" descr="ml_metric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30" b="1">
                <a:solidFill>
                  <a:srgbClr val="0284C7"/>
                </a:solidFill>
                <a:latin typeface="Manrope"/>
              </a:rPr>
              <a:t>SNR Regime Breakdown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−10 to −2 dB: </a:t>
            </a:r>
            <a:r>
              <a:rPr sz="1530" b="0">
                <a:solidFill>
                  <a:srgbClr val="0F172A"/>
                </a:solidFill>
                <a:latin typeface="Inter"/>
              </a:rPr>
              <a:t>Accuracy rises ~15% → 27%; noise dominates feature estimates.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0 to +6 dB: </a:t>
            </a:r>
            <a:r>
              <a:rPr sz="1530" b="0">
                <a:solidFill>
                  <a:srgbClr val="0F172A"/>
                </a:solidFill>
                <a:latin typeface="Inter"/>
              </a:rPr>
              <a:t>RF accuracy improves to ~40% as the signal becomes clearer.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+8 to +18 dB: </a:t>
            </a:r>
            <a:r>
              <a:rPr sz="1530" b="0">
                <a:solidFill>
                  <a:srgbClr val="0F172A"/>
                </a:solidFill>
                <a:latin typeface="Inter"/>
              </a:rPr>
              <a:t>Performance flattens near 48–51%.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INTERPRETATION: </a:t>
            </a:r>
            <a:r>
              <a:rPr sz="1530" b="0">
                <a:solidFill>
                  <a:srgbClr val="0F172A"/>
                </a:solidFill>
                <a:latin typeface="Inter"/>
              </a:rPr>
              <a:t>Higher-order PSK and QAM classes remain hard to separate with 18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Classical ML: Confusion Matrices &amp;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7 of 19</a:t>
            </a:r>
          </a:p>
        </p:txBody>
      </p:sp>
      <p:pic>
        <p:nvPicPr>
          <p:cNvPr id="7" name="Picture 6" descr="m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066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234440"/>
            <a:ext cx="313639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371600"/>
            <a:ext cx="286207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2563EB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Class Confusion &amp; Features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284C7"/>
                </a:solidFill>
                <a:latin typeface="Inter"/>
              </a:rPr>
              <a:t>−4 dB: </a:t>
            </a:r>
            <a:r>
              <a:rPr sz="1450" b="0">
                <a:solidFill>
                  <a:srgbClr val="0F172A"/>
                </a:solidFill>
                <a:latin typeface="Inter"/>
              </a:rPr>
              <a:t>Noise scatters predictions across many classes.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284C7"/>
                </a:solidFill>
                <a:latin typeface="Inter"/>
              </a:rPr>
              <a:t>+4 dB: </a:t>
            </a:r>
            <a:r>
              <a:rPr sz="1450" b="0">
                <a:solidFill>
                  <a:srgbClr val="0F172A"/>
                </a:solidFill>
                <a:latin typeface="Inter"/>
              </a:rPr>
              <a:t>BPSK separates strongly; high-order classes still mix.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284C7"/>
                </a:solidFill>
                <a:latin typeface="Inter"/>
              </a:rPr>
              <a:t>+14 dB: </a:t>
            </a:r>
            <a:r>
              <a:rPr sz="1450" b="0">
                <a:solidFill>
                  <a:srgbClr val="0F172A"/>
                </a:solidFill>
                <a:latin typeface="Inter"/>
              </a:rPr>
              <a:t>8/16/32PSK and QAM families remain confused.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284C7"/>
                </a:solidFill>
                <a:latin typeface="Inter"/>
              </a:rPr>
              <a:t>TOP FEATURES: </a:t>
            </a:r>
            <a:r>
              <a:rPr sz="1450" b="0">
                <a:solidFill>
                  <a:srgbClr val="0F172A"/>
                </a:solidFill>
                <a:latin typeface="Inter"/>
              </a:rPr>
              <a:t>C40 · C42 · PAPR · amplitude spread · phase entropy.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 dirty="0">
                <a:solidFill>
                  <a:srgbClr val="0284C7"/>
                </a:solidFill>
                <a:latin typeface="Manrope"/>
              </a:rPr>
              <a:t>PART III • TIER 2: </a:t>
            </a:r>
            <a:r>
              <a:rPr lang="en-US" sz="1200" b="1" dirty="0">
                <a:solidFill>
                  <a:srgbClr val="0284C7"/>
                </a:solidFill>
                <a:latin typeface="Manrope"/>
              </a:rPr>
              <a:t>AUTOMATIC MODULATION CLASSIFICATION</a:t>
            </a:r>
            <a:r>
              <a:rPr sz="1200" b="1" dirty="0">
                <a:solidFill>
                  <a:srgbClr val="0284C7"/>
                </a:solidFill>
                <a:latin typeface="Manrope"/>
              </a:rPr>
              <a:t>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 dirty="0">
                <a:solidFill>
                  <a:srgbClr val="0F172A"/>
                </a:solidFill>
                <a:latin typeface="Manrope"/>
              </a:rPr>
              <a:t>3-Layer MLP: Network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8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221992" cy="34747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3B82F6"/>
                </a:solidFill>
                <a:latin typeface="Manrope"/>
              </a:defRPr>
            </a:pPr>
            <a:r>
              <a:rPr sz="1960" b="1" dirty="0">
                <a:solidFill>
                  <a:srgbClr val="2563EB"/>
                </a:solidFill>
                <a:latin typeface="Manrope"/>
              </a:rPr>
              <a:t>INPUT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60" b="1" dirty="0">
                <a:solidFill>
                  <a:srgbClr val="2563EB"/>
                </a:solidFill>
                <a:latin typeface="Inter"/>
              </a:rPr>
              <a:t>18: </a:t>
            </a:r>
            <a:r>
              <a:rPr sz="1760" b="0" dirty="0">
                <a:solidFill>
                  <a:srgbClr val="0F172A"/>
                </a:solidFill>
                <a:latin typeface="Inter"/>
              </a:rPr>
              <a:t>engineered features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60" b="1" dirty="0">
                <a:solidFill>
                  <a:srgbClr val="2563EB"/>
                </a:solidFill>
                <a:latin typeface="Inter"/>
              </a:rPr>
              <a:t>SCALE: </a:t>
            </a:r>
            <a:r>
              <a:rPr sz="1760" b="0" dirty="0" err="1">
                <a:solidFill>
                  <a:srgbClr val="0F172A"/>
                </a:solidFill>
                <a:latin typeface="Inter"/>
              </a:rPr>
              <a:t>StandardScaler</a:t>
            </a:r>
            <a:endParaRPr sz="1760" b="0" dirty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dirty="0">
                <a:solidFill>
                  <a:srgbClr val="2563EB"/>
                </a:solidFill>
                <a:latin typeface="Inter"/>
              </a:rPr>
              <a:t>OUTPUT: </a:t>
            </a:r>
            <a:r>
              <a:rPr sz="1760" b="0" dirty="0">
                <a:solidFill>
                  <a:srgbClr val="0F172A"/>
                </a:solidFill>
                <a:latin typeface="Inter"/>
              </a:rPr>
              <a:t>18 standardized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371600"/>
            <a:ext cx="2221992" cy="34747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rPr sz="1935" b="1" dirty="0">
                <a:solidFill>
                  <a:srgbClr val="0284C7"/>
                </a:solidFill>
                <a:latin typeface="Manrope"/>
              </a:rPr>
              <a:t>HIDDEN LAYER 1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35" b="1" dirty="0">
                <a:solidFill>
                  <a:srgbClr val="0284C7"/>
                </a:solidFill>
                <a:latin typeface="Inter"/>
              </a:rPr>
              <a:t>128: </a:t>
            </a:r>
            <a:r>
              <a:rPr sz="1735" b="0" dirty="0">
                <a:solidFill>
                  <a:srgbClr val="0F172A"/>
                </a:solidFill>
                <a:latin typeface="Inter"/>
              </a:rPr>
              <a:t>neurons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35" b="1" dirty="0">
                <a:solidFill>
                  <a:srgbClr val="0284C7"/>
                </a:solidFill>
                <a:latin typeface="Inter"/>
              </a:rPr>
              <a:t>LINEAR: </a:t>
            </a:r>
            <a:r>
              <a:rPr sz="1735" b="0" dirty="0">
                <a:solidFill>
                  <a:srgbClr val="0F172A"/>
                </a:solidFill>
                <a:latin typeface="Inter"/>
              </a:rPr>
              <a:t>18 → 128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35" b="1" dirty="0">
                <a:solidFill>
                  <a:srgbClr val="0284C7"/>
                </a:solidFill>
                <a:latin typeface="Inter"/>
              </a:rPr>
              <a:t>ACTIVATE: </a:t>
            </a:r>
            <a:r>
              <a:rPr sz="1735" b="0" dirty="0" err="1">
                <a:solidFill>
                  <a:srgbClr val="0F172A"/>
                </a:solidFill>
                <a:latin typeface="Inter"/>
              </a:rPr>
              <a:t>BatchNorm</a:t>
            </a:r>
            <a:r>
              <a:rPr sz="1735" b="0" dirty="0">
                <a:solidFill>
                  <a:srgbClr val="0F172A"/>
                </a:solidFill>
                <a:latin typeface="Inter"/>
              </a:rPr>
              <a:t> + </a:t>
            </a:r>
            <a:r>
              <a:rPr sz="1735" b="0" dirty="0" err="1">
                <a:solidFill>
                  <a:srgbClr val="0F172A"/>
                </a:solidFill>
                <a:latin typeface="Inter"/>
              </a:rPr>
              <a:t>ReLU</a:t>
            </a:r>
            <a:endParaRPr sz="1735" b="0" dirty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dirty="0">
                <a:solidFill>
                  <a:srgbClr val="0284C7"/>
                </a:solidFill>
                <a:latin typeface="Inter"/>
              </a:rPr>
              <a:t>REGULARIZE: </a:t>
            </a:r>
            <a:r>
              <a:rPr sz="1735" b="0" dirty="0">
                <a:solidFill>
                  <a:srgbClr val="0F172A"/>
                </a:solidFill>
                <a:latin typeface="Inter"/>
              </a:rPr>
              <a:t>Dropout 0.2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221992" cy="34747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rPr sz="1910" b="1" dirty="0">
                <a:solidFill>
                  <a:srgbClr val="0284C7"/>
                </a:solidFill>
                <a:latin typeface="Manrope"/>
              </a:rPr>
              <a:t>HIDDEN LAYER 2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10" b="1" dirty="0">
                <a:solidFill>
                  <a:srgbClr val="0284C7"/>
                </a:solidFill>
                <a:latin typeface="Inter"/>
              </a:rPr>
              <a:t>64: </a:t>
            </a:r>
            <a:r>
              <a:rPr sz="1710" b="0" dirty="0">
                <a:solidFill>
                  <a:srgbClr val="0F172A"/>
                </a:solidFill>
                <a:latin typeface="Inter"/>
              </a:rPr>
              <a:t>neurons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10" b="1" dirty="0">
                <a:solidFill>
                  <a:srgbClr val="0284C7"/>
                </a:solidFill>
                <a:latin typeface="Inter"/>
              </a:rPr>
              <a:t>LINEAR: </a:t>
            </a:r>
            <a:r>
              <a:rPr sz="1710" b="0" dirty="0">
                <a:solidFill>
                  <a:srgbClr val="0F172A"/>
                </a:solidFill>
                <a:latin typeface="Inter"/>
              </a:rPr>
              <a:t>128 → 64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10" b="1" dirty="0">
                <a:solidFill>
                  <a:srgbClr val="0284C7"/>
                </a:solidFill>
                <a:latin typeface="Inter"/>
              </a:rPr>
              <a:t>ACTIVATE: </a:t>
            </a:r>
            <a:r>
              <a:rPr sz="1710" b="0" dirty="0" err="1">
                <a:solidFill>
                  <a:srgbClr val="0F172A"/>
                </a:solidFill>
                <a:latin typeface="Inter"/>
              </a:rPr>
              <a:t>BatchNorm</a:t>
            </a:r>
            <a:r>
              <a:rPr sz="1710" b="0" dirty="0">
                <a:solidFill>
                  <a:srgbClr val="0F172A"/>
                </a:solidFill>
                <a:latin typeface="Inter"/>
              </a:rPr>
              <a:t> + </a:t>
            </a:r>
            <a:r>
              <a:rPr sz="1710" b="0" dirty="0" err="1">
                <a:solidFill>
                  <a:srgbClr val="0F172A"/>
                </a:solidFill>
                <a:latin typeface="Inter"/>
              </a:rPr>
              <a:t>ReLU</a:t>
            </a:r>
            <a:endParaRPr sz="1710" b="0" dirty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 dirty="0">
                <a:solidFill>
                  <a:srgbClr val="0284C7"/>
                </a:solidFill>
                <a:latin typeface="Inter"/>
              </a:rPr>
              <a:t>REGULARIZE: </a:t>
            </a:r>
            <a:r>
              <a:rPr sz="1710" b="0" dirty="0">
                <a:solidFill>
                  <a:srgbClr val="0F172A"/>
                </a:solidFill>
                <a:latin typeface="Inter"/>
              </a:rPr>
              <a:t>Dropout 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221992" cy="34747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10B981"/>
                </a:solidFill>
                <a:latin typeface="Manrope"/>
              </a:defRPr>
            </a:pPr>
            <a:r>
              <a:rPr sz="1960" b="1" dirty="0">
                <a:solidFill>
                  <a:srgbClr val="059669"/>
                </a:solidFill>
                <a:latin typeface="Manrope"/>
              </a:rPr>
              <a:t>OUTPUT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60" b="1" dirty="0">
                <a:solidFill>
                  <a:srgbClr val="059669"/>
                </a:solidFill>
                <a:latin typeface="Inter"/>
              </a:rPr>
              <a:t>8: </a:t>
            </a:r>
            <a:r>
              <a:rPr lang="en-US" sz="1760" dirty="0">
                <a:solidFill>
                  <a:srgbClr val="0F172A"/>
                </a:solidFill>
                <a:latin typeface="Inter"/>
              </a:rPr>
              <a:t>digital</a:t>
            </a:r>
            <a:r>
              <a:rPr lang="en-US" sz="1760" b="0" dirty="0">
                <a:solidFill>
                  <a:srgbClr val="0F172A"/>
                </a:solidFill>
                <a:latin typeface="Inter"/>
              </a:rPr>
              <a:t> m</a:t>
            </a:r>
            <a:r>
              <a:rPr sz="1760" b="0" dirty="0">
                <a:solidFill>
                  <a:srgbClr val="0F172A"/>
                </a:solidFill>
                <a:latin typeface="Inter"/>
              </a:rPr>
              <a:t>odulation </a:t>
            </a:r>
            <a:r>
              <a:rPr lang="en-US" sz="1760" b="0" dirty="0">
                <a:solidFill>
                  <a:srgbClr val="0F172A"/>
                </a:solidFill>
                <a:latin typeface="Inter"/>
              </a:rPr>
              <a:t>schemes</a:t>
            </a:r>
            <a:endParaRPr sz="1760" b="0" dirty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760" b="1" dirty="0">
                <a:solidFill>
                  <a:srgbClr val="059669"/>
                </a:solidFill>
                <a:latin typeface="Inter"/>
              </a:rPr>
              <a:t>LINEAR: </a:t>
            </a:r>
            <a:r>
              <a:rPr sz="1760" b="0" dirty="0">
                <a:solidFill>
                  <a:srgbClr val="0F172A"/>
                </a:solidFill>
                <a:latin typeface="Inter"/>
              </a:rPr>
              <a:t>64 → 8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dirty="0">
                <a:solidFill>
                  <a:srgbClr val="059669"/>
                </a:solidFill>
                <a:latin typeface="Inter"/>
              </a:rPr>
              <a:t>PREDICT: </a:t>
            </a:r>
            <a:r>
              <a:rPr sz="1760" b="0" dirty="0">
                <a:solidFill>
                  <a:srgbClr val="0F172A"/>
                </a:solidFill>
                <a:latin typeface="Inter"/>
              </a:rPr>
              <a:t>class 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5912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60152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Manrope"/>
              </a:defRPr>
            </a:pPr>
            <a:r>
              <a:rPr sz="1500" b="1">
                <a:solidFill>
                  <a:srgbClr val="0284C7"/>
                </a:solidFill>
                <a:latin typeface="Manrope"/>
              </a:rPr>
              <a:t>11,592 parameters    •    52.5 KB checkpoint    •    58.75 s CPU training</a:t>
            </a:r>
            <a:br/>
            <a:r>
              <a:rPr sz="1500" b="1">
                <a:solidFill>
                  <a:srgbClr val="0284C7"/>
                </a:solidFill>
                <a:latin typeface="Manrope"/>
              </a:rPr>
              <a:t>Adam (lr=0.001, batch=128)  |  BatchNorm + Dropout(0.2) + L2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MLP Forward Pass: From Features to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9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22199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rPr sz="1950" b="1" dirty="0">
                <a:solidFill>
                  <a:srgbClr val="0284C7"/>
                </a:solidFill>
                <a:latin typeface="Manrope"/>
              </a:rPr>
              <a:t>01 · Extract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 dirty="0">
                <a:solidFill>
                  <a:srgbClr val="0284C7"/>
                </a:solidFill>
                <a:latin typeface="Inter"/>
              </a:rPr>
              <a:t>18 FEATURES:</a:t>
            </a:r>
            <a:endParaRPr lang="en-US" sz="1750" b="1" dirty="0">
              <a:solidFill>
                <a:srgbClr val="0284C7"/>
              </a:solidFill>
              <a:latin typeface="Inter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750" dirty="0">
                <a:latin typeface="Inter"/>
              </a:rPr>
              <a:t>From raw signal</a:t>
            </a:r>
            <a:r>
              <a:rPr sz="1750" dirty="0">
                <a:latin typeface="Inter"/>
              </a:rPr>
              <a:t> </a:t>
            </a:r>
            <a:r>
              <a:rPr sz="1750" b="0" dirty="0">
                <a:solidFill>
                  <a:srgbClr val="0F172A"/>
                </a:solidFill>
                <a:latin typeface="Inter"/>
              </a:rPr>
              <a:t>Higher-order cumulants, spectral and phase statistics.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 dirty="0">
                <a:solidFill>
                  <a:srgbClr val="0284C7"/>
                </a:solidFill>
                <a:latin typeface="Inter"/>
              </a:rPr>
              <a:t>EXAMPLES: </a:t>
            </a:r>
            <a:r>
              <a:rPr sz="1750" b="0" dirty="0">
                <a:solidFill>
                  <a:srgbClr val="0F172A"/>
                </a:solidFill>
                <a:latin typeface="Inter"/>
              </a:rPr>
              <a:t>C40, C42, </a:t>
            </a:r>
            <a:r>
              <a:rPr sz="1750" b="0" dirty="0" err="1">
                <a:solidFill>
                  <a:srgbClr val="0F172A"/>
                </a:solidFill>
                <a:latin typeface="Inter"/>
              </a:rPr>
              <a:t>Kurt_psd</a:t>
            </a:r>
            <a:r>
              <a:rPr sz="1750" b="0" dirty="0">
                <a:solidFill>
                  <a:srgbClr val="0F172A"/>
                </a:solidFill>
                <a:latin typeface="Inter"/>
              </a:rPr>
              <a:t>, PAPR.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dirty="0">
                <a:solidFill>
                  <a:srgbClr val="0284C7"/>
                </a:solidFill>
                <a:latin typeface="Inter"/>
              </a:rPr>
              <a:t>RESULT: </a:t>
            </a:r>
            <a:r>
              <a:rPr sz="1750" b="0" dirty="0">
                <a:solidFill>
                  <a:srgbClr val="0F172A"/>
                </a:solidFill>
                <a:latin typeface="Inter"/>
              </a:rPr>
              <a:t>Input vector x ∈ ℝ¹⁸.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371600"/>
            <a:ext cx="222199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rPr sz="1875" b="1" dirty="0">
                <a:solidFill>
                  <a:srgbClr val="0284C7"/>
                </a:solidFill>
                <a:latin typeface="Manrope"/>
              </a:rPr>
              <a:t>02 · Normalize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675" b="1" dirty="0">
                <a:solidFill>
                  <a:srgbClr val="0284C7"/>
                </a:solidFill>
                <a:latin typeface="Inter"/>
              </a:rPr>
              <a:t>SCALER: </a:t>
            </a:r>
            <a:r>
              <a:rPr sz="1675" b="0" dirty="0">
                <a:solidFill>
                  <a:srgbClr val="0F172A"/>
                </a:solidFill>
                <a:latin typeface="Inter"/>
              </a:rPr>
              <a:t>z = (x − μ) / σ.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675" b="1">
                <a:solidFill>
                  <a:srgbClr val="0284C7"/>
                </a:solidFill>
                <a:latin typeface="Inter"/>
              </a:rPr>
              <a:t>PURPOSE: </a:t>
            </a:r>
            <a:r>
              <a:rPr sz="1675" b="0">
                <a:solidFill>
                  <a:srgbClr val="0F172A"/>
                </a:solidFill>
                <a:latin typeface="Inter"/>
              </a:rPr>
              <a:t>Center features and place them on comparable numerical scales.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75" b="1" dirty="0">
                <a:solidFill>
                  <a:srgbClr val="0284C7"/>
                </a:solidFill>
                <a:latin typeface="Inter"/>
              </a:rPr>
              <a:t>BENEFIT: </a:t>
            </a:r>
            <a:r>
              <a:rPr sz="1675" b="0" dirty="0">
                <a:solidFill>
                  <a:srgbClr val="0F172A"/>
                </a:solidFill>
                <a:latin typeface="Inter"/>
              </a:rPr>
              <a:t>More stable gradient-based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22199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rPr sz="1950" b="1">
                <a:solidFill>
                  <a:srgbClr val="0284C7"/>
                </a:solidFill>
                <a:latin typeface="Manrope"/>
              </a:rPr>
              <a:t>03 · Forward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>
                <a:solidFill>
                  <a:srgbClr val="0284C7"/>
                </a:solidFill>
                <a:latin typeface="Inter"/>
              </a:rPr>
              <a:t>LAYER 1: </a:t>
            </a:r>
            <a:r>
              <a:rPr sz="1750" b="0">
                <a:solidFill>
                  <a:srgbClr val="0F172A"/>
                </a:solidFill>
                <a:latin typeface="Inter"/>
              </a:rPr>
              <a:t>18 → 128, BN + ReLU.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>
                <a:solidFill>
                  <a:srgbClr val="0284C7"/>
                </a:solidFill>
                <a:latin typeface="Inter"/>
              </a:rPr>
              <a:t>LAYER 2: </a:t>
            </a:r>
            <a:r>
              <a:rPr sz="1750" b="0">
                <a:solidFill>
                  <a:srgbClr val="0F172A"/>
                </a:solidFill>
                <a:latin typeface="Inter"/>
              </a:rPr>
              <a:t>128 → 64, BN + ReLU.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284C7"/>
                </a:solidFill>
                <a:latin typeface="Inter"/>
              </a:rPr>
              <a:t>LAYER 3: </a:t>
            </a:r>
            <a:r>
              <a:rPr sz="1750" b="0">
                <a:solidFill>
                  <a:srgbClr val="0F172A"/>
                </a:solidFill>
                <a:latin typeface="Inter"/>
              </a:rPr>
              <a:t>64 → 8 output logits.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22199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rPr sz="1950" b="1">
                <a:solidFill>
                  <a:srgbClr val="059669"/>
                </a:solidFill>
                <a:latin typeface="Manrope"/>
              </a:rPr>
              <a:t>04 · Predict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>
                <a:solidFill>
                  <a:srgbClr val="059669"/>
                </a:solidFill>
                <a:latin typeface="Inter"/>
              </a:rPr>
              <a:t>SOFTMAX: </a:t>
            </a:r>
            <a:r>
              <a:rPr sz="1750" b="0">
                <a:solidFill>
                  <a:srgbClr val="0F172A"/>
                </a:solidFill>
                <a:latin typeface="Inter"/>
              </a:rPr>
              <a:t>Turns eight logits into probabilities.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800"/>
              </a:spcAft>
            </a:pPr>
            <a:r>
              <a:rPr sz="1750" b="1">
                <a:solidFill>
                  <a:srgbClr val="059669"/>
                </a:solidFill>
                <a:latin typeface="Inter"/>
              </a:rPr>
              <a:t>EXAMPLE: </a:t>
            </a:r>
            <a:r>
              <a:rPr sz="1750" b="0">
                <a:solidFill>
                  <a:srgbClr val="0F172A"/>
                </a:solidFill>
                <a:latin typeface="Inter"/>
              </a:rPr>
              <a:t>16QAM 82%  ·  64QAM 11%.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59669"/>
                </a:solidFill>
                <a:latin typeface="Inter"/>
              </a:rPr>
              <a:t>OUTPUT: </a:t>
            </a:r>
            <a:r>
              <a:rPr sz="1750" b="0">
                <a:solidFill>
                  <a:srgbClr val="0F172A"/>
                </a:solidFill>
                <a:latin typeface="Inter"/>
              </a:rPr>
              <a:t>Highest-probability class is selected.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Loss Landscapes: Narrow Ravine vs. Round Bowl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10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108960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rPr sz="1720" b="1">
                <a:solidFill>
                  <a:srgbClr val="0284C7"/>
                </a:solidFill>
                <a:latin typeface="Manrope"/>
              </a:rPr>
              <a:t>Why Standardization Matters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20" b="1">
                <a:solidFill>
                  <a:srgbClr val="0284C7"/>
                </a:solidFill>
                <a:latin typeface="Inter"/>
              </a:rPr>
              <a:t>MISMATCH: </a:t>
            </a:r>
            <a:r>
              <a:rPr sz="1520" b="0">
                <a:solidFill>
                  <a:srgbClr val="0F172A"/>
                </a:solidFill>
                <a:latin typeface="Inter"/>
              </a:rPr>
              <a:t>PAPR, cumulants and PSD features have different numerical scales.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20" b="1">
                <a:solidFill>
                  <a:srgbClr val="0284C7"/>
                </a:solidFill>
                <a:latin typeface="Inter"/>
              </a:rPr>
              <a:t>UNSCALED: </a:t>
            </a:r>
            <a:r>
              <a:rPr sz="1520" b="0">
                <a:solidFill>
                  <a:srgbClr val="0F172A"/>
                </a:solidFill>
                <a:latin typeface="Inter"/>
              </a:rPr>
              <a:t>Optimization may oscillate across a steep, narrow loss landscape.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520" b="1">
                <a:solidFill>
                  <a:srgbClr val="0284C7"/>
                </a:solidFill>
                <a:latin typeface="Inter"/>
              </a:rPr>
              <a:t>SCALED: </a:t>
            </a:r>
            <a:r>
              <a:rPr sz="1520" b="0">
                <a:solidFill>
                  <a:srgbClr val="0F172A"/>
                </a:solidFill>
                <a:latin typeface="Inter"/>
              </a:rPr>
              <a:t>z = (x − μ)/σ reduces scale imbalance.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284C7"/>
                </a:solidFill>
                <a:latin typeface="Inter"/>
              </a:rPr>
              <a:t>BENEFIT: </a:t>
            </a:r>
            <a:r>
              <a:rPr sz="1520" b="0">
                <a:solidFill>
                  <a:srgbClr val="0F172A"/>
                </a:solidFill>
                <a:latin typeface="Inter"/>
              </a:rPr>
              <a:t>More stable optimization and faster convergence with Adam.</a:t>
            </a:r>
          </a:p>
        </p:txBody>
      </p:sp>
      <p:pic>
        <p:nvPicPr>
          <p:cNvPr id="9" name="Picture 8" descr="mlp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Training Convergence &amp; Cross-Entropy Loss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11 of 19</a:t>
            </a:r>
          </a:p>
        </p:txBody>
      </p:sp>
      <p:pic>
        <p:nvPicPr>
          <p:cNvPr id="7" name="Picture 6" descr="ml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Training &amp; Checkpointing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95" b="1">
                <a:solidFill>
                  <a:srgbClr val="0284C7"/>
                </a:solidFill>
                <a:latin typeface="Inter"/>
              </a:rPr>
              <a:t>LOSS: </a:t>
            </a:r>
            <a:r>
              <a:rPr sz="1495" b="0">
                <a:solidFill>
                  <a:srgbClr val="0F172A"/>
                </a:solidFill>
                <a:latin typeface="Inter"/>
              </a:rPr>
              <a:t>Cross-entropy + L2 weight decay (10⁻⁴).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95" b="1">
                <a:solidFill>
                  <a:srgbClr val="0284C7"/>
                </a:solidFill>
                <a:latin typeface="Inter"/>
              </a:rPr>
              <a:t>OPTIMIZER: </a:t>
            </a:r>
            <a:r>
              <a:rPr sz="1495" b="0">
                <a:solidFill>
                  <a:srgbClr val="0F172A"/>
                </a:solidFill>
                <a:latin typeface="Inter"/>
              </a:rPr>
              <a:t>Adam, learning rate 0.001; batch size 128.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95" b="1">
                <a:solidFill>
                  <a:srgbClr val="0284C7"/>
                </a:solidFill>
                <a:latin typeface="Inter"/>
              </a:rPr>
              <a:t>TRAINING: </a:t>
            </a:r>
            <a:r>
              <a:rPr sz="1495" b="0">
                <a:solidFill>
                  <a:srgbClr val="0F172A"/>
                </a:solidFill>
                <a:latin typeface="Inter"/>
              </a:rPr>
              <a:t>35 epochs · 58.75 s on CPU.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495" b="1">
                <a:solidFill>
                  <a:srgbClr val="0284C7"/>
                </a:solidFill>
                <a:latin typeface="Inter"/>
              </a:rPr>
              <a:t>BEST CHECKPOINT: </a:t>
            </a:r>
            <a:r>
              <a:rPr sz="1495" b="0">
                <a:solidFill>
                  <a:srgbClr val="0F172A"/>
                </a:solidFill>
                <a:latin typeface="Inter"/>
              </a:rPr>
              <a:t>Epoch 33: val loss 1.572; val accuracy 39.8%.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95" b="1">
                <a:solidFill>
                  <a:srgbClr val="0284C7"/>
                </a:solidFill>
                <a:latin typeface="Inter"/>
              </a:rPr>
              <a:t>GENERALIZATION: </a:t>
            </a:r>
            <a:r>
              <a:rPr sz="1495" b="0">
                <a:solidFill>
                  <a:srgbClr val="0F172A"/>
                </a:solidFill>
                <a:latin typeface="Inter"/>
              </a:rPr>
              <a:t>Train/validation curves remain close.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MLP Error Diagnostics &amp; Operating-Condition Slicing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12 of 19</a:t>
            </a:r>
          </a:p>
        </p:txBody>
      </p:sp>
      <p:pic>
        <p:nvPicPr>
          <p:cNvPr id="7" name="Picture 6" descr="mlp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Performance by SNR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−10 to −2 dB: </a:t>
            </a:r>
            <a:r>
              <a:rPr sz="1500" b="0">
                <a:solidFill>
                  <a:srgbClr val="0F172A"/>
                </a:solidFill>
                <a:latin typeface="Inter"/>
              </a:rPr>
              <a:t>Accuracy ~15% → 25%; noisy feature estimates.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0 to +6 dB: </a:t>
            </a:r>
            <a:r>
              <a:rPr sz="1500" b="0">
                <a:solidFill>
                  <a:srgbClr val="0F172A"/>
                </a:solidFill>
                <a:latin typeface="Inter"/>
              </a:rPr>
              <a:t>Steep recovery; reaches ~42%.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+8 to +18 dB: </a:t>
            </a:r>
            <a:r>
              <a:rPr sz="1500" b="0">
                <a:solidFill>
                  <a:srgbClr val="0F172A"/>
                </a:solidFill>
                <a:latin typeface="Inter"/>
              </a:rPr>
              <a:t>Accuracy flattens near 49%.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ERROR MODE: </a:t>
            </a:r>
            <a:r>
              <a:rPr sz="1500" b="0">
                <a:solidFill>
                  <a:srgbClr val="0F172A"/>
                </a:solidFill>
                <a:latin typeface="Inter"/>
              </a:rPr>
              <a:t>8/16/32PSK and 16/64/256QAM remain overlapping.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CONCLUSION: </a:t>
            </a:r>
            <a:r>
              <a:rPr sz="1500" b="0">
                <a:solidFill>
                  <a:srgbClr val="0F172A"/>
                </a:solidFill>
                <a:latin typeface="Inter"/>
              </a:rPr>
              <a:t>Feature representation constrains the MLP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1D CNN: Architecture &amp; Raw I/Q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13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90372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6629400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EC4899"/>
                </a:solidFill>
                <a:latin typeface="Manrope"/>
              </a:defRPr>
            </a:pPr>
            <a:r>
              <a:rPr sz="1800" b="1">
                <a:solidFill>
                  <a:srgbClr val="0284C7"/>
                </a:solidFill>
                <a:latin typeface="Manrope"/>
              </a:rPr>
              <a:t>3-Block 1D CNN · Raw I/Q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INPUT: </a:t>
            </a:r>
            <a:r>
              <a:rPr sz="1600" b="0">
                <a:solidFill>
                  <a:srgbClr val="0F172A"/>
                </a:solidFill>
                <a:latin typeface="Inter"/>
              </a:rPr>
              <a:t>[2, 128] raw baseband tensor; no hand-crafted features.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BLOCK 1: </a:t>
            </a:r>
            <a:r>
              <a:rPr sz="1600" b="0">
                <a:solidFill>
                  <a:srgbClr val="0F172A"/>
                </a:solidFill>
                <a:latin typeface="Inter"/>
              </a:rPr>
              <a:t>Conv1D 2 → 32 · BN · ReLU · MaxPool → [32, 64].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BLOCK 2: </a:t>
            </a:r>
            <a:r>
              <a:rPr sz="1600" b="0">
                <a:solidFill>
                  <a:srgbClr val="0F172A"/>
                </a:solidFill>
                <a:latin typeface="Inter"/>
              </a:rPr>
              <a:t>Conv1D 32 → 64 · BN · ReLU · MaxPool → [64, 32].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BLOCK 3: </a:t>
            </a:r>
            <a:r>
              <a:rPr sz="1600" b="0">
                <a:solidFill>
                  <a:srgbClr val="0F172A"/>
                </a:solidFill>
                <a:latin typeface="Inter"/>
              </a:rPr>
              <a:t>Conv1D 64 → 128 · BN · ReLU · MaxPool → [128, 16].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HEAD: </a:t>
            </a:r>
            <a:r>
              <a:rPr sz="1600" b="0">
                <a:solidFill>
                  <a:srgbClr val="0F172A"/>
                </a:solidFill>
                <a:latin typeface="Inter"/>
              </a:rPr>
              <a:t>Global average pooling → Dropout 0.25 → Linear(128, 8).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84C7"/>
                </a:solidFill>
                <a:latin typeface="Inter"/>
              </a:rPr>
              <a:t>ALL KERNELS: </a:t>
            </a:r>
            <a:r>
              <a:rPr sz="1600" b="0">
                <a:solidFill>
                  <a:srgbClr val="0F172A"/>
                </a:solidFill>
                <a:latin typeface="Inter"/>
              </a:rPr>
              <a:t>5 samples, padding 2; learning temporal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1234440"/>
            <a:ext cx="3666744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7848" y="1371600"/>
            <a:ext cx="3392424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70" b="1">
                <a:solidFill>
                  <a:srgbClr val="0284C7"/>
                </a:solidFill>
                <a:latin typeface="Manrope"/>
              </a:rPr>
              <a:t>Training Configuration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DATA: </a:t>
            </a:r>
            <a:r>
              <a:rPr sz="1570" b="0">
                <a:solidFill>
                  <a:srgbClr val="0F172A"/>
                </a:solidFill>
                <a:latin typeface="Inter"/>
              </a:rPr>
              <a:t>67,200 train; 14,400 validation; 14,400 test.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OPTIMIZER: </a:t>
            </a:r>
            <a:r>
              <a:rPr sz="1570" b="0">
                <a:solidFill>
                  <a:srgbClr val="0F172A"/>
                </a:solidFill>
                <a:latin typeface="Inter"/>
              </a:rPr>
              <a:t>Adam (lr=0.001), cross-entropy loss.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BATCH: </a:t>
            </a:r>
            <a:r>
              <a:rPr sz="1570" b="0">
                <a:solidFill>
                  <a:srgbClr val="0F172A"/>
                </a:solidFill>
                <a:latin typeface="Inter"/>
              </a:rPr>
              <a:t>256 bursts per iteration.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PARAMETERS: </a:t>
            </a:r>
            <a:r>
              <a:rPr sz="1570" b="0">
                <a:solidFill>
                  <a:srgbClr val="0F172A"/>
                </a:solidFill>
                <a:latin typeface="Inter"/>
              </a:rPr>
              <a:t>53,224 trainable weights.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CHECKPOINT: </a:t>
            </a:r>
            <a:r>
              <a:rPr sz="1570" b="0">
                <a:solidFill>
                  <a:srgbClr val="0F172A"/>
                </a:solidFill>
                <a:latin typeface="Inter"/>
              </a:rPr>
              <a:t>0.213 MB on disk.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0284C7"/>
                </a:solidFill>
                <a:latin typeface="Inter"/>
              </a:rPr>
              <a:t>BEST EPOCH: </a:t>
            </a:r>
            <a:r>
              <a:rPr sz="1570" b="0">
                <a:solidFill>
                  <a:srgbClr val="0F172A"/>
                </a:solidFill>
                <a:latin typeface="Inter"/>
              </a:rPr>
              <a:t>28 · val loss 1.3915.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1D CNN Training Dynamics &amp;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14 of 19</a:t>
            </a:r>
          </a:p>
        </p:txBody>
      </p:sp>
      <p:pic>
        <p:nvPicPr>
          <p:cNvPr id="7" name="Picture 6" descr="cnn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81812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05088" y="1234440"/>
            <a:ext cx="2752344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2248" y="1371600"/>
            <a:ext cx="2478024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Training Findings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EARLY EPOCHS: </a:t>
            </a:r>
            <a:r>
              <a:rPr sz="1340" b="0">
                <a:solidFill>
                  <a:srgbClr val="0F172A"/>
                </a:solidFill>
                <a:latin typeface="Inter"/>
              </a:rPr>
              <a:t>Both training and validation loss drop quickly.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AFTER ~20 EPOCHS: </a:t>
            </a:r>
            <a:r>
              <a:rPr sz="1340" b="0">
                <a:solidFill>
                  <a:srgbClr val="0F172A"/>
                </a:solidFill>
                <a:latin typeface="Inter"/>
              </a:rPr>
              <a:t>Validation loss stabilizes near 1.39–1.40.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BEST CHECKPOINT: </a:t>
            </a:r>
            <a:r>
              <a:rPr sz="1340" b="0">
                <a:solidFill>
                  <a:srgbClr val="0F172A"/>
                </a:solidFill>
                <a:latin typeface="Inter"/>
              </a:rPr>
              <a:t>Epoch 28, chosen by minimum validation loss.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STOPPING: </a:t>
            </a:r>
            <a:r>
              <a:rPr sz="1340" b="0">
                <a:solidFill>
                  <a:srgbClr val="0F172A"/>
                </a:solidFill>
                <a:latin typeface="Inter"/>
              </a:rPr>
              <a:t>Early stopping triggered at epoch 37.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284C7"/>
                </a:solidFill>
                <a:latin typeface="Inter"/>
              </a:rPr>
              <a:t>TAKEAWAY: </a:t>
            </a:r>
            <a:r>
              <a:rPr sz="1340" b="0">
                <a:solidFill>
                  <a:srgbClr val="0F172A"/>
                </a:solidFill>
                <a:latin typeface="Inter"/>
              </a:rPr>
              <a:t>Train accuracy still climbs; validation gains are small.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1D CNN Test Results &amp; Per-Class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15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2313432" cy="914400"/>
          </a:xfrm>
          <a:prstGeom prst="rect">
            <a:avLst/>
          </a:prstGeom>
          <a:noFill/>
        </p:spPr>
        <p:txBody>
          <a:bodyPr wrap="none" lIns="64008" tIns="36576" rIns="64008" bIns="27432" anchor="ctr">
            <a:noAutofit/>
          </a:bodyPr>
          <a:lstStyle/>
          <a:p>
            <a:pPr algn="ctr">
              <a:spcAft>
                <a:spcPts val="500"/>
              </a:spcAft>
              <a:defRPr sz="1050" b="1">
                <a:solidFill>
                  <a:srgbClr val="64748B"/>
                </a:solidFill>
                <a:latin typeface="Manrope"/>
              </a:defRPr>
            </a:pPr>
            <a:r>
              <a:rPr sz="1150" b="1">
                <a:solidFill>
                  <a:srgbClr val="475569"/>
                </a:solidFill>
                <a:latin typeface="Inter"/>
              </a:rPr>
              <a:t>TEST ACCURACY</a:t>
            </a:r>
          </a:p>
          <a:p>
            <a:pPr algn="ctr"/>
            <a:r>
              <a:rPr sz="2300" b="1">
                <a:solidFill>
                  <a:srgbClr val="DB2777"/>
                </a:solidFill>
                <a:latin typeface="Manrope"/>
              </a:rPr>
              <a:t>39.22%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2313432" cy="914400"/>
          </a:xfrm>
          <a:prstGeom prst="rect">
            <a:avLst/>
          </a:prstGeom>
          <a:noFill/>
        </p:spPr>
        <p:txBody>
          <a:bodyPr wrap="none" lIns="64008" tIns="36576" rIns="64008" bIns="27432" anchor="ctr">
            <a:noAutofit/>
          </a:bodyPr>
          <a:lstStyle/>
          <a:p>
            <a:pPr algn="ctr">
              <a:spcAft>
                <a:spcPts val="500"/>
              </a:spcAft>
              <a:defRPr sz="1050" b="1">
                <a:solidFill>
                  <a:srgbClr val="64748B"/>
                </a:solidFill>
                <a:latin typeface="Manrope"/>
              </a:defRPr>
            </a:pPr>
            <a:r>
              <a:rPr sz="1150" b="1">
                <a:solidFill>
                  <a:srgbClr val="475569"/>
                </a:solidFill>
                <a:latin typeface="Inter"/>
              </a:rPr>
              <a:t>TEST MACRO-F1</a:t>
            </a:r>
          </a:p>
          <a:p>
            <a:pPr algn="ctr"/>
            <a:r>
              <a:rPr sz="2300" b="1">
                <a:solidFill>
                  <a:srgbClr val="2563EB"/>
                </a:solidFill>
                <a:latin typeface="Manrope"/>
              </a:rPr>
              <a:t>35.97%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313432" cy="914400"/>
          </a:xfrm>
          <a:prstGeom prst="rect">
            <a:avLst/>
          </a:prstGeom>
          <a:noFill/>
        </p:spPr>
        <p:txBody>
          <a:bodyPr wrap="none" lIns="64008" tIns="36576" rIns="64008" bIns="27432" anchor="ctr">
            <a:noAutofit/>
          </a:bodyPr>
          <a:lstStyle/>
          <a:p>
            <a:pPr algn="ctr">
              <a:spcAft>
                <a:spcPts val="500"/>
              </a:spcAft>
              <a:defRPr sz="1050" b="1">
                <a:solidFill>
                  <a:srgbClr val="64748B"/>
                </a:solidFill>
                <a:latin typeface="Manrope"/>
              </a:defRPr>
            </a:pPr>
            <a:r>
              <a:rPr sz="1150" b="1">
                <a:solidFill>
                  <a:srgbClr val="475569"/>
                </a:solidFill>
                <a:latin typeface="Inter"/>
              </a:rPr>
              <a:t>MODEL SIZE</a:t>
            </a:r>
          </a:p>
          <a:p>
            <a:pPr algn="ctr"/>
            <a:r>
              <a:rPr sz="2300" b="1">
                <a:solidFill>
                  <a:srgbClr val="059669"/>
                </a:solidFill>
                <a:latin typeface="Manrope"/>
              </a:rPr>
              <a:t>0.213 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325880"/>
            <a:ext cx="2313432" cy="914400"/>
          </a:xfrm>
          <a:prstGeom prst="rect">
            <a:avLst/>
          </a:prstGeom>
          <a:noFill/>
        </p:spPr>
        <p:txBody>
          <a:bodyPr wrap="none" lIns="64008" tIns="36576" rIns="64008" bIns="27432" anchor="ctr">
            <a:noAutofit/>
          </a:bodyPr>
          <a:lstStyle/>
          <a:p>
            <a:pPr algn="ctr">
              <a:spcAft>
                <a:spcPts val="500"/>
              </a:spcAft>
              <a:defRPr sz="1050" b="1">
                <a:solidFill>
                  <a:srgbClr val="64748B"/>
                </a:solidFill>
                <a:latin typeface="Manrope"/>
              </a:defRPr>
            </a:pPr>
            <a:r>
              <a:rPr sz="1150" b="1">
                <a:solidFill>
                  <a:srgbClr val="475569"/>
                </a:solidFill>
                <a:latin typeface="Inter"/>
              </a:rPr>
              <a:t>LATENCY / SAMPLE</a:t>
            </a:r>
          </a:p>
          <a:p>
            <a:pPr algn="ctr"/>
            <a:r>
              <a:rPr sz="2300" b="1">
                <a:solidFill>
                  <a:srgbClr val="7C3AED"/>
                </a:solidFill>
                <a:latin typeface="Manrope"/>
              </a:rPr>
              <a:t>0.424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516636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65176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91072" y="2514600"/>
            <a:ext cx="516636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2651760"/>
            <a:ext cx="4892040" cy="32461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300" b="1">
                <a:solidFill>
                  <a:srgbClr val="2563EB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Error Diagnostics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BPSK: </a:t>
            </a:r>
            <a:r>
              <a:rPr sz="1460" b="0">
                <a:solidFill>
                  <a:srgbClr val="0F172A"/>
                </a:solidFill>
                <a:latin typeface="Inter"/>
              </a:rPr>
              <a:t>Most reliable class (F1 = 0.81).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QPSK: </a:t>
            </a:r>
            <a:r>
              <a:rPr sz="1460" b="0">
                <a:solidFill>
                  <a:srgbClr val="0F172A"/>
                </a:solidFill>
                <a:latin typeface="Inter"/>
              </a:rPr>
              <a:t>Recognized moderately well (F1 = 0.53).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64QAM: </a:t>
            </a:r>
            <a:r>
              <a:rPr sz="1460" b="0">
                <a:solidFill>
                  <a:srgbClr val="0F172A"/>
                </a:solidFill>
                <a:latin typeface="Inter"/>
              </a:rPr>
              <a:t>Very weak recognition (F1 = 0.05).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ROOT CAUSE: </a:t>
            </a:r>
            <a:r>
              <a:rPr sz="1460" b="0">
                <a:solidFill>
                  <a:srgbClr val="0F172A"/>
                </a:solidFill>
                <a:latin typeface="Inter"/>
              </a:rPr>
              <a:t>Higher-order PSK/QAM constellations still overlap under multipath and short bursts.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0284C7"/>
                </a:solidFill>
                <a:latin typeface="Inter"/>
              </a:rPr>
              <a:t>LESSON: </a:t>
            </a:r>
            <a:r>
              <a:rPr sz="1460" b="0">
                <a:solidFill>
                  <a:srgbClr val="0F172A"/>
                </a:solidFill>
                <a:latin typeface="Inter"/>
              </a:rPr>
              <a:t>Raw I/Q helps, but cannot remove all class ambiguity.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734056"/>
            <a:ext cx="4681728" cy="402336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900" b="1">
                <a:solidFill>
                  <a:srgbClr val="0284C7"/>
                </a:solidFill>
                <a:latin typeface="Manrope"/>
              </a:rPr>
              <a:t>PER-CLASS 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310128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BPSK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7984" y="3310128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867912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QPSK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7984" y="3867912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53%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425696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8PSK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4425696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983480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16QAM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984" y="4983480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310128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256QAM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3310128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33%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867912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32PSK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867912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31%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425696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16PSK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4425696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14%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983480"/>
            <a:ext cx="1133856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510" b="1">
                <a:solidFill>
                  <a:srgbClr val="0F172A"/>
                </a:solidFill>
                <a:latin typeface="Manrope"/>
              </a:rPr>
              <a:t>64QAM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983480"/>
            <a:ext cx="1005840" cy="338328"/>
          </a:xfrm>
          <a:prstGeom prst="rect">
            <a:avLst/>
          </a:prstGeom>
          <a:noFill/>
        </p:spPr>
        <p:txBody>
          <a:bodyPr wrap="square" lIns="27432" tIns="22860" rIns="27432" bIns="22860" anchor="ctr">
            <a:spAutoFit/>
          </a:bodyPr>
          <a:lstStyle/>
          <a:p>
            <a:pPr algn="l"/>
            <a:r>
              <a:rPr sz="1700" b="1">
                <a:solidFill>
                  <a:srgbClr val="0284C7"/>
                </a:solidFill>
                <a:latin typeface="Manrope"/>
              </a:rPr>
              <a:t>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1D CNN Noise Robustness &amp; Phase Trajectory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16 of 19</a:t>
            </a:r>
          </a:p>
        </p:txBody>
      </p:sp>
      <p:pic>
        <p:nvPicPr>
          <p:cNvPr id="7" name="Picture 6" descr="cnn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30" b="1">
                <a:solidFill>
                  <a:srgbClr val="0284C7"/>
                </a:solidFill>
                <a:latin typeface="Manrope"/>
              </a:rPr>
              <a:t>1D CNN Across SNR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RAW I/Q: </a:t>
            </a:r>
            <a:r>
              <a:rPr sz="1530" b="0">
                <a:solidFill>
                  <a:srgbClr val="0F172A"/>
                </a:solidFill>
                <a:latin typeface="Inter"/>
              </a:rPr>
              <a:t>Temporal Conv1D kernels operate on adjacent samples.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−10 dB: </a:t>
            </a:r>
            <a:r>
              <a:rPr sz="1530" b="0">
                <a:solidFill>
                  <a:srgbClr val="0F172A"/>
                </a:solidFill>
                <a:latin typeface="Inter"/>
              </a:rPr>
              <a:t>Only ~14% accuracy under severe noise.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+14 dB: </a:t>
            </a:r>
            <a:r>
              <a:rPr sz="1530" b="0">
                <a:solidFill>
                  <a:srgbClr val="0F172A"/>
                </a:solidFill>
                <a:latin typeface="Inter"/>
              </a:rPr>
              <a:t>53.13% test accuracy.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+18 dB: </a:t>
            </a:r>
            <a:r>
              <a:rPr sz="1530" b="0">
                <a:solidFill>
                  <a:srgbClr val="0F172A"/>
                </a:solidFill>
                <a:latin typeface="Inter"/>
              </a:rPr>
              <a:t>55.10% test accuracy.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284C7"/>
                </a:solidFill>
                <a:latin typeface="Inter"/>
              </a:rPr>
              <a:t>COMPARISON: </a:t>
            </a:r>
            <a:r>
              <a:rPr sz="1530" b="0">
                <a:solidFill>
                  <a:srgbClr val="0F172A"/>
                </a:solidFill>
                <a:latin typeface="Inter"/>
              </a:rPr>
              <a:t>Higher high-SNR accuracy than feature-based baselines, but the curve still flattens above +10 dB.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V • THREE-TIER BENCHMARK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Three-Model Comparison: Accuracy vs. SNR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17 of 19</a:t>
            </a:r>
          </a:p>
        </p:txBody>
      </p:sp>
      <p:pic>
        <p:nvPicPr>
          <p:cNvPr id="7" name="Picture 6" descr="benchmark_accuracy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Three-Model Findings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LOW SNR: </a:t>
            </a:r>
            <a:r>
              <a:rPr sz="1500" b="0">
                <a:solidFill>
                  <a:srgbClr val="0F172A"/>
                </a:solidFill>
                <a:latin typeface="Inter"/>
              </a:rPr>
              <a:t>All methods suffer when Gaussian noise dominates.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AROUND +2 dB: </a:t>
            </a:r>
            <a:r>
              <a:rPr sz="1500" b="0">
                <a:solidFill>
                  <a:srgbClr val="0F172A"/>
                </a:solidFill>
                <a:latin typeface="Inter"/>
              </a:rPr>
              <a:t>CNN begins to outperform the feature models in the plotted benchmark.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HIGH SNR: </a:t>
            </a:r>
            <a:r>
              <a:rPr sz="1500" b="0">
                <a:solidFill>
                  <a:srgbClr val="0F172A"/>
                </a:solidFill>
                <a:latin typeface="Inter"/>
              </a:rPr>
              <a:t>RF/MLP flatten around ~48–51%; CNN reaches 55.10% at +18 dB.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INTERPRETATION: </a:t>
            </a:r>
            <a:r>
              <a:rPr sz="1500" b="0">
                <a:solidFill>
                  <a:srgbClr val="0F172A"/>
                </a:solidFill>
                <a:latin typeface="Inter"/>
              </a:rPr>
              <a:t>Learning from raw I/Q helps recover information missing from the fixed 18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V • THREE-TIER BENCHMARK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Hardware Latency Profiling &amp; Edge Deployment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18 of 19</a:t>
            </a:r>
          </a:p>
        </p:txBody>
      </p:sp>
      <p:pic>
        <p:nvPicPr>
          <p:cNvPr id="7" name="Picture 6" descr="mlp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234440"/>
            <a:ext cx="41422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1371600"/>
            <a:ext cx="3867912" cy="45262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noAutofit/>
          </a:bodyPr>
          <a:lstStyle/>
          <a:p>
            <a:pPr algn="l">
              <a:spcAft>
                <a:spcPts val="15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rPr sz="1700" b="1">
                <a:solidFill>
                  <a:srgbClr val="0284C7"/>
                </a:solidFill>
                <a:latin typeface="Manrope"/>
              </a:rPr>
              <a:t>Deployment Trade-offs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MLP · ~36 µs: </a:t>
            </a:r>
            <a:r>
              <a:rPr sz="1500" b="0">
                <a:solidFill>
                  <a:srgbClr val="0F172A"/>
                </a:solidFill>
                <a:latin typeface="Inter"/>
              </a:rPr>
              <a:t>Smallest model (~52.5 KB); lowest latency.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CNN · ~424 µs: </a:t>
            </a:r>
            <a:r>
              <a:rPr sz="1500" b="0">
                <a:solidFill>
                  <a:srgbClr val="0F172A"/>
                </a:solidFill>
                <a:latin typeface="Inter"/>
              </a:rPr>
              <a:t>Compact (~0.213 MB); stronger high-SNR accuracy.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RF · ~280 µs: </a:t>
            </a:r>
            <a:r>
              <a:rPr sz="1500" b="0">
                <a:solidFill>
                  <a:srgbClr val="0F172A"/>
                </a:solidFill>
                <a:latin typeface="Inter"/>
              </a:rPr>
              <a:t>Fast inference, but nearly 1 GB checkpoint.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SVM · ~9.7 ms: </a:t>
            </a:r>
            <a:r>
              <a:rPr sz="1500" b="0">
                <a:solidFill>
                  <a:srgbClr val="0F172A"/>
                </a:solidFill>
                <a:latin typeface="Inter"/>
              </a:rPr>
              <a:t>Compact relative to RF, but slow per burst.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Inter"/>
              </a:rPr>
              <a:t>CAUTION: </a:t>
            </a:r>
            <a:r>
              <a:rPr sz="1500" b="0">
                <a:solidFill>
                  <a:srgbClr val="0F172A"/>
                </a:solidFill>
                <a:latin typeface="Inter"/>
              </a:rPr>
              <a:t>Latency figures are CPU benchmark measurements, not end-to-end radio deadlines.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1100" b="1">
                <a:solidFill>
                  <a:srgbClr val="0284C7"/>
                </a:solidFill>
                <a:latin typeface="Manrope"/>
              </a:defRPr>
            </a:pPr>
            <a:r>
              <a:rPr sz="1200" b="1">
                <a:solidFill>
                  <a:srgbClr val="0284C7"/>
                </a:solidFill>
                <a:latin typeface="Manrope"/>
              </a:rPr>
              <a:t>PART V • EXECUTIVE 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 lIns="18288" tIns="9144" rIns="18288" bIns="9144" anchor="ctr">
            <a:no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anrope"/>
              </a:defRPr>
            </a:pPr>
            <a:r>
              <a:rPr sz="2500" b="1">
                <a:solidFill>
                  <a:srgbClr val="0F172A"/>
                </a:solidFill>
                <a:latin typeface="Manrope"/>
              </a:rPr>
              <a:t>Three-Tier Benchmark: Results &amp;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defRPr sz="950">
                <a:solidFill>
                  <a:srgbClr val="64748B"/>
                </a:solidFill>
                <a:latin typeface="Inter"/>
              </a:defRPr>
            </a:pPr>
            <a:r>
              <a:rPr sz="1000" b="0">
                <a:solidFill>
                  <a:srgbClr val="64748B"/>
                </a:solidFill>
                <a:latin typeface="Inter"/>
              </a:rP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019" b="1">
                <a:solidFill>
                  <a:srgbClr val="475569"/>
                </a:solidFill>
                <a:latin typeface="Manrope"/>
              </a:rPr>
              <a:t>Slide 19 of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25880"/>
          <a:ext cx="1036015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080" b="1">
                          <a:latin typeface="Inter"/>
                        </a:rPr>
                        <a:t>ENGINEERING METRIC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080" b="1">
                          <a:latin typeface="Inter"/>
                        </a:rPr>
                        <a:t>TIER 1: CLASSICAL ML (RF)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080" b="1">
                          <a:latin typeface="Inter"/>
                        </a:rPr>
                        <a:t>TIER 2: NEURAL NET (MLP)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080" b="1">
                          <a:latin typeface="Inter"/>
                        </a:rPr>
                        <a:t>TIER 3: DEEP LEARNING (1D CNN)</a:t>
                      </a:r>
                    </a:p>
                  </a:txBody>
                  <a:tcPr marL="68580" marR="59436" marT="18288" marB="1828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Input Representation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18 Domain Features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18 Normalized Domain Features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Raw Baseband I/Q [2, 128]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Overall Test Accuracy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33.83%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35.17%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0">
                          <a:latin typeface="Inter"/>
                        </a:rPr>
                        <a:t>39.22% (Highest Overall)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Peak High-SNR Accuracy (+18 dB)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50.10%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48.25% (Feature Ceiling)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55.10% (Breaks Ceiling!)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Macro-F1 Score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33.48%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34.82%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35.97% (Most Balanced)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latin typeface="Inter"/>
                        </a:rPr>
                        <a:t>Model Complexity (not equivalent across models)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140,572,728 tree nodes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11,592 parameters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53,224 parameters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Model Checkpoint Size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999.7 MB (Parameter Explosion)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52.5 KB (Ultra Compact)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0.213 MB (Compact ConvNet)</a:t>
                      </a:r>
                    </a:p>
                  </a:txBody>
                  <a:tcPr marL="68580" marR="5943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30" b="1">
                          <a:latin typeface="Inter"/>
                        </a:rPr>
                        <a:t>Single-Burst Latency (B=1)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~280 µs (Satisfies 5G)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~36 µs (Ultra Fast / MCU)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rPr sz="1160" b="0">
                          <a:latin typeface="Inter"/>
                        </a:rPr>
                        <a:t>~424 µs (Satisfies 5G / SDR)</a:t>
                      </a:r>
                    </a:p>
                  </a:txBody>
                  <a:tcPr marL="68580" marR="5943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709160"/>
            <a:ext cx="516636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4892040" cy="1188720"/>
          </a:xfrm>
          <a:prstGeom prst="rect">
            <a:avLst/>
          </a:prstGeom>
          <a:noFill/>
        </p:spPr>
        <p:txBody>
          <a:bodyPr wrap="square" lIns="109728" rIns="109728" bIns="36576" anchor="ctr">
            <a:no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0284C7"/>
                </a:solidFill>
                <a:latin typeface="Manrope"/>
              </a:defRPr>
            </a:pPr>
            <a:r>
              <a:rPr sz="1650" b="1">
                <a:solidFill>
                  <a:srgbClr val="0284C7"/>
                </a:solidFill>
                <a:latin typeface="Manrope"/>
              </a:rPr>
              <a:t>Benchmark Takeaways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60" b="1">
                <a:solidFill>
                  <a:srgbClr val="0284C7"/>
                </a:solidFill>
                <a:latin typeface="Inter"/>
              </a:rPr>
              <a:t>ACCURACY: </a:t>
            </a:r>
            <a:r>
              <a:rPr sz="1260" b="0">
                <a:solidFill>
                  <a:srgbClr val="0F172A"/>
                </a:solidFill>
                <a:latin typeface="Inter"/>
              </a:rPr>
              <a:t>CNN 39.22% &gt; MLP 35.17% &gt; RF 33.83%.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60" b="1">
                <a:solidFill>
                  <a:srgbClr val="0284C7"/>
                </a:solidFill>
                <a:latin typeface="Inter"/>
              </a:rPr>
              <a:t>LIMIT: </a:t>
            </a:r>
            <a:r>
              <a:rPr sz="1260" b="0">
                <a:solidFill>
                  <a:srgbClr val="0F172A"/>
                </a:solidFill>
                <a:latin typeface="Inter"/>
              </a:rPr>
              <a:t>High-order PSK/QAM confusion persists.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4709160"/>
            <a:ext cx="516636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4773168"/>
            <a:ext cx="4892040" cy="1188720"/>
          </a:xfrm>
          <a:prstGeom prst="rect">
            <a:avLst/>
          </a:prstGeom>
          <a:noFill/>
        </p:spPr>
        <p:txBody>
          <a:bodyPr wrap="square" lIns="109728" rIns="109728" bIns="36576" anchor="ctr">
            <a:no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0B981"/>
                </a:solidFill>
                <a:latin typeface="Manrope"/>
              </a:defRPr>
            </a:pPr>
            <a:r>
              <a:rPr sz="1650" b="1">
                <a:solidFill>
                  <a:srgbClr val="0284C7"/>
                </a:solidFill>
                <a:latin typeface="Manrope"/>
              </a:rPr>
              <a:t>Edge Deployment Choices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60" b="1">
                <a:solidFill>
                  <a:srgbClr val="0284C7"/>
                </a:solidFill>
                <a:latin typeface="Inter"/>
              </a:rPr>
              <a:t>MLP: </a:t>
            </a:r>
            <a:r>
              <a:rPr sz="1260" b="0">
                <a:solidFill>
                  <a:srgbClr val="0F172A"/>
                </a:solidFill>
                <a:latin typeface="Inter"/>
              </a:rPr>
              <a:t>Lowest latency and model size.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60" b="1">
                <a:solidFill>
                  <a:srgbClr val="0284C7"/>
                </a:solidFill>
                <a:latin typeface="Inter"/>
              </a:rPr>
              <a:t>CNN: </a:t>
            </a:r>
            <a:r>
              <a:rPr sz="1260" b="0">
                <a:solidFill>
                  <a:srgbClr val="0F172A"/>
                </a:solidFill>
                <a:latin typeface="Inter"/>
              </a:rPr>
              <a:t>Stronger accuracy with small checkpoint.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60" b="1">
                <a:solidFill>
                  <a:srgbClr val="0284C7"/>
                </a:solidFill>
                <a:latin typeface="Inter"/>
              </a:rPr>
              <a:t>RF: </a:t>
            </a:r>
            <a:r>
              <a:rPr sz="1260" b="0">
                <a:solidFill>
                  <a:srgbClr val="0F172A"/>
                </a:solidFill>
                <a:latin typeface="Inter"/>
              </a:rPr>
              <a:t>~1 GB checkpoint limits edge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2461</Words>
  <Application>Microsoft Office PowerPoint</Application>
  <PresentationFormat>Widescreen</PresentationFormat>
  <Paragraphs>311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Inter</vt:lpstr>
      <vt:lpstr>Manrope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hai</cp:lastModifiedBy>
  <cp:revision>3</cp:revision>
  <dcterms:created xsi:type="dcterms:W3CDTF">2013-01-27T09:14:16Z</dcterms:created>
  <dcterms:modified xsi:type="dcterms:W3CDTF">2026-10-26T03:07:54Z</dcterms:modified>
  <cp:category/>
</cp:coreProperties>
</file>